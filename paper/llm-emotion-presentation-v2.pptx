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64008" cy="347472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987552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LLM은 박탈 프레이밍 아래에서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6601A"/>
                </a:solidFill>
                <a:latin typeface="Calibri"/>
              </a:rPr>
              <a:t>후회 같은 언어를 생성하는가?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8716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AABB"/>
                </a:solidFill>
                <a:latin typeface="Calibri"/>
              </a:rPr>
              <a:t>Do LLMs Produce Regret-Like Language Under Deprivation Framing?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8036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AABB"/>
                </a:solidFill>
                <a:latin typeface="Calibri"/>
              </a:rPr>
              <a:t>A Prompt-Conditioned Behavioral Study Across Diverse Model Families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310128"/>
            <a:ext cx="6400800" cy="1828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42900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01A"/>
                </a:solidFill>
                <a:latin typeface="Calibri"/>
              </a:rPr>
              <a:t>최재영  ·  DGIST EECS  ·  jaeyeong2022@dgist.ac.kr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77788"/>
                </a:solidFill>
                <a:latin typeface="Calibri"/>
              </a:rPr>
              <a:t>2026  ·  Research Meeting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617720"/>
            <a:ext cx="2057400" cy="804672"/>
          </a:xfrm>
          <a:prstGeom prst="rect">
            <a:avLst/>
          </a:prstGeom>
          <a:solidFill>
            <a:srgbClr val="1E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645152"/>
            <a:ext cx="2057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01A"/>
                </a:solidFill>
                <a:latin typeface="Calibri"/>
              </a:rPr>
              <a:t>N = 4,248
총 샘플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53512" y="4617720"/>
            <a:ext cx="2057400" cy="804672"/>
          </a:xfrm>
          <a:prstGeom prst="rect">
            <a:avLst/>
          </a:prstGeom>
          <a:solidFill>
            <a:srgbClr val="1E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645152"/>
            <a:ext cx="2057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18 models
모델 변형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93792" y="4617720"/>
            <a:ext cx="2057400" cy="804672"/>
          </a:xfrm>
          <a:prstGeom prst="rect">
            <a:avLst/>
          </a:prstGeom>
          <a:solidFill>
            <a:srgbClr val="1E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792" y="4645152"/>
            <a:ext cx="2057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 families
모델 계열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34072" y="4617720"/>
            <a:ext cx="2057400" cy="804672"/>
          </a:xfrm>
          <a:prstGeom prst="rect">
            <a:avLst/>
          </a:prstGeom>
          <a:solidFill>
            <a:srgbClr val="1E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4072" y="4645152"/>
            <a:ext cx="2057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3×3×2
실험 설계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7784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77"/>
                </a:solidFill>
                <a:latin typeface="Calibri"/>
              </a:rPr>
              <a:t>OpenAI GPT  ·  Google Gemini  ·  Meta Llama  ·  Alibaba Qwen  ·  Moonshot Kimi  ·  OpenAI 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8932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github.com/Jaeyeong-CHOI/llm-emotion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01  ·  연구 질문  &amp;  동기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행동주의적 관점: 감정 실재가 아닌 언어 출력 패턴을 측정한다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1247120" cy="1600200"/>
          </a:xfrm>
          <a:prstGeom prst="rect">
            <a:avLst/>
          </a:prstGeom>
          <a:solidFill>
            <a:srgbClr val="FFF5EC"/>
          </a:solidFill>
          <a:ln w="2540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91440" cy="160020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972800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11727"/>
                </a:solidFill>
                <a:latin typeface="Calibri"/>
              </a:rPr>
              <a:t>❝  어떤 프롬프트 조건에서 LLM 출력에 후회처럼 보이는 언어 패턴이 체계적으로 나타나는가?
    그리고 이 패턴은 다양한 모델 계열에서 일관되게 관찰되는가?  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44368"/>
            <a:ext cx="356616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44368"/>
            <a:ext cx="3566160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072384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01A"/>
                </a:solidFill>
                <a:latin typeface="Calibri"/>
              </a:rPr>
              <a:t>⚠️  안전  &amp;  정렬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547872"/>
            <a:ext cx="3246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727"/>
                </a:solidFill>
                <a:latin typeface="Calibri"/>
              </a:rPr>
              <a:t>감정 민감 AI(상담봇/치료봇)에서
어떤 프롬프트가 부정 감정 언어를
활성화하는지 이해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2944368"/>
            <a:ext cx="356616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944368"/>
            <a:ext cx="3566160" cy="64008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3072384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D4"/>
                </a:solidFill>
                <a:latin typeface="Calibri"/>
              </a:rPr>
              <a:t>🔬  행동 벤치마킹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47872"/>
            <a:ext cx="3246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727"/>
                </a:solidFill>
                <a:latin typeface="Calibri"/>
              </a:rPr>
              <a:t>어떤 조건이 LLM 출력 분포를
체계적으로 변화시키는지
측정 방법론 확립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944368"/>
            <a:ext cx="356616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9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2944368"/>
            <a:ext cx="3566160" cy="64008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072384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9E5A"/>
                </a:solidFill>
                <a:latin typeface="Calibri"/>
              </a:rPr>
              <a:t>🌍  크로스모델 일반화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3547872"/>
            <a:ext cx="3246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727"/>
                </a:solidFill>
                <a:latin typeface="Calibri"/>
              </a:rPr>
              <a:t>Proprietary vs Open-weight
모두에서 동일 패턴이
재현되는가?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126480"/>
            <a:ext cx="11247120" cy="566928"/>
          </a:xfrm>
          <a:prstGeom prst="rect">
            <a:avLst/>
          </a:prstGeom>
          <a:solidFill>
            <a:srgbClr val="EEF2FF"/>
          </a:solidFill>
          <a:ln w="9525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99632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D4"/>
                </a:solidFill>
                <a:latin typeface="Calibri"/>
              </a:rPr>
              <a:t>ℹ️  이 연구는 LLM이 후회를 '느낀다'고 주장하지 않습니다. 관찰 가능한 언어 신호를 측정하는 행동주의적(behavioral) 연구입니다.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02  ·  실험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3(조건) × 3(페르소나) × 2(Temperature)  |  N=4,248  |  18 model variants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743200" cy="36576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프롬프트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15568"/>
            <a:ext cx="2743200" cy="365760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1430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페르소나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115568"/>
            <a:ext cx="2743200" cy="36576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1430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모델 &amp; 설정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9136" y="1115568"/>
            <a:ext cx="2743200" cy="365760"/>
          </a:xfrm>
          <a:prstGeom prst="rect">
            <a:avLst/>
          </a:prstGeom>
          <a:solidFill>
            <a:srgbClr val="7B2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14300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측정 지표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554480"/>
            <a:ext cx="274320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6184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🔘 Neutral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956816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"오늘을 차분하게 돌아봐.
감정 과장 없이 6–8문장."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35808"/>
            <a:ext cx="2743200" cy="1417320"/>
          </a:xfrm>
          <a:prstGeom prst="rect">
            <a:avLst/>
          </a:prstGeom>
          <a:solidFill>
            <a:srgbClr val="FFF0E0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9981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🟠 Deprivation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38144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"깊이 원했지만 놓친 기회를 떠올려.
잃어버린 것과 남은 감정 포함 7–9문장."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17136"/>
            <a:ext cx="2743200" cy="1417320"/>
          </a:xfrm>
          <a:prstGeom prst="rect">
            <a:avLst/>
          </a:prstGeom>
          <a:solidFill>
            <a:srgbClr val="E8F0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81144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🔵 Counterfactual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"만약–그랬더라면 연결고리 3개
이상 포함해 결정을 소급 서술.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1554480"/>
            <a:ext cx="2743200" cy="1417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10712" y="16184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None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1956816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기준 조건 (설정 없음)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3552" y="3035808"/>
            <a:ext cx="2743200" cy="1417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309981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Reflective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3438144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"내성적, 감정 예민,
과거 결정 의미 되새김"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73552" y="4517136"/>
            <a:ext cx="2743200" cy="1417320"/>
          </a:xfrm>
          <a:prstGeom prst="rect">
            <a:avLst/>
          </a:prstGeom>
          <a:solidFill>
            <a:srgbClr val="FFF5E0"/>
          </a:solidFill>
          <a:ln w="2540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0712" y="4581144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01A"/>
                </a:solidFill>
                <a:latin typeface="Calibri"/>
              </a:rPr>
              <a:t>Ruminative 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0712" y="4919472"/>
            <a:ext cx="2514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"실수·놓친 기회 계속 곱씹음
과거를 반복 재생"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1554480"/>
            <a:ext cx="2743200" cy="4754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1664208"/>
            <a:ext cx="248716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OpenAI: GPT-3.5 / 4o / 4o-mini
         GPT-4.1 / 4.1-mini
         GPT-5.4-mini / nano
         gpt-oss-120b
Gemini: 2.5-Flash / 2.5-Flash-Lite
         2.5-Pro / 3-Flash / 3-Pro
Meta:   Llama-3.3-70B / Llama-4-Scout
Alibaba: Qwen3-32B
Kimi:   Kimi-K2-Instruct
Temp: 0.2 / 0.7
Scenarios: 69개 뱅크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1554480"/>
            <a:ext cx="2834640" cy="1097280"/>
          </a:xfrm>
          <a:prstGeom prst="rect">
            <a:avLst/>
          </a:prstGeom>
          <a:solidFill>
            <a:srgbClr val="F3F4F6"/>
          </a:solidFill>
          <a:ln w="19050">
            <a:solidFill>
              <a:srgbClr val="059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1554480"/>
            <a:ext cx="2834640" cy="54864"/>
          </a:xfrm>
          <a:prstGeom prst="rect">
            <a:avLst/>
          </a:prstGeom>
          <a:solidFill>
            <a:srgbClr val="05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7152" y="1664208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39B"/>
                </a:solidFill>
                <a:latin typeface="Calibri"/>
              </a:rPr>
              <a:t>CF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1993392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반사실 표현 빈도 (100자당)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2743200"/>
            <a:ext cx="2834640" cy="1097280"/>
          </a:xfrm>
          <a:prstGeom prst="rect">
            <a:avLst/>
          </a:prstGeom>
          <a:solidFill>
            <a:srgbClr val="F3F4F6"/>
          </a:solidFill>
          <a:ln w="1905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98280" y="2743200"/>
            <a:ext cx="2834640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852928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01A"/>
                </a:solidFill>
                <a:latin typeface="Calibri"/>
              </a:rPr>
              <a:t>Regret 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후회·자책 어휘 빈도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8280" y="3931920"/>
            <a:ext cx="2834640" cy="1097280"/>
          </a:xfrm>
          <a:prstGeom prst="rect">
            <a:avLst/>
          </a:prstGeom>
          <a:solidFill>
            <a:srgbClr val="F3F4F6"/>
          </a:solidFill>
          <a:ln w="1905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98280" y="3931920"/>
            <a:ext cx="2834640" cy="54864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4041648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BD4"/>
                </a:solidFill>
                <a:latin typeface="Calibri"/>
              </a:rPr>
              <a:t>NegEmo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17152" y="4370832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부정 감정 단어 빈도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5120640"/>
            <a:ext cx="2834640" cy="1097280"/>
          </a:xfrm>
          <a:prstGeom prst="rect">
            <a:avLst/>
          </a:prstGeom>
          <a:solidFill>
            <a:srgbClr val="F8F0FF"/>
          </a:solidFill>
          <a:ln w="19050">
            <a:solidFill>
              <a:srgbClr val="7B2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8280" y="5120640"/>
            <a:ext cx="2834640" cy="54864"/>
          </a:xfrm>
          <a:prstGeom prst="rect">
            <a:avLst/>
          </a:prstGeom>
          <a:solidFill>
            <a:srgbClr val="7B2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5230368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2FBF"/>
                </a:solidFill>
                <a:latin typeface="Calibri"/>
              </a:rPr>
              <a:t>Emb. Bias 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7152" y="5559552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문장 임베딩 cosine bias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03  ·  핵심 결과 ①  —  조건 효과 (N=4,248)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LME: outcome ~ cond + persona + temp + (1|scenario)  |  확인적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97280"/>
            <a:ext cx="2286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2286000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07007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601A"/>
                </a:solidFill>
                <a:latin typeface="Calibri"/>
              </a:rPr>
              <a:t>β=0.142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Emb Bias 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1031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z=12.68, p&lt;.001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1097280"/>
            <a:ext cx="2286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61488" y="1097280"/>
            <a:ext cx="2286000" cy="64008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1207007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6BD4"/>
                </a:solidFill>
                <a:latin typeface="Calibri"/>
              </a:rPr>
              <a:t>β=0.204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Emb Bias 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21031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z=17.78, p&lt;.001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5504" y="1097280"/>
            <a:ext cx="2286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75504" y="1097280"/>
            <a:ext cx="2286000" cy="64008"/>
          </a:xfrm>
          <a:prstGeom prst="rect">
            <a:avLst/>
          </a:prstGeom>
          <a:solidFill>
            <a:srgbClr val="05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75504" y="1207007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5939B"/>
                </a:solidFill>
                <a:latin typeface="Calibri"/>
              </a:rPr>
              <a:t>β=0.364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Regret rate 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1031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z=3.31, p&lt;.001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1097280"/>
            <a:ext cx="2286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89520" y="1097280"/>
            <a:ext cx="2286000" cy="64008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1207007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9E5A"/>
                </a:solidFill>
                <a:latin typeface="Calibri"/>
              </a:rPr>
              <a:t>β=0.205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17556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NegEmo  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1031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z=3.94, p&lt;.001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03536" y="109728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03536" y="1097280"/>
            <a:ext cx="2103120" cy="6400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207007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6B7280"/>
                </a:solidFill>
                <a:latin typeface="Calibri"/>
              </a:rPr>
              <a:t>β=0.210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3536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CF rate  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03536" y="21031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z=1.27, n.s.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2633472"/>
            <a:ext cx="11430000" cy="274320"/>
          </a:xfrm>
          <a:prstGeom prst="rect">
            <a:avLst/>
          </a:prstGeom>
          <a:solidFill>
            <a:srgbClr val="EEF2FF"/>
          </a:solidFill>
          <a:ln w="9525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660904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6BD4"/>
                </a:solidFill>
                <a:latin typeface="Calibri"/>
              </a:rPr>
              <a:t>Welch t (탐색적):  Emb bias D vs N  d=1.76, t=47.1  ·  Emb bias C vs N  d=2.03, t=54.1  |  *** p&lt;.001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3017520"/>
            <a:ext cx="475488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09067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Embedding Regret Bias — 조건별 평균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074920"/>
            <a:ext cx="502920" cy="120700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300216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B7280"/>
                </a:solidFill>
                <a:latin typeface="Calibri"/>
              </a:rPr>
              <a:t>-0.024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" y="580644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727"/>
                </a:solidFill>
                <a:latin typeface="Calibri"/>
              </a:rPr>
              <a:t>Neutral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03120" y="-557784"/>
            <a:ext cx="502920" cy="563270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79" y="-758952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0.112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580644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727"/>
                </a:solidFill>
                <a:latin typeface="Calibri"/>
              </a:rPr>
              <a:t>Deprivation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47872" y="-859535"/>
            <a:ext cx="502920" cy="5934455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432" y="-1060703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D4"/>
                </a:solidFill>
                <a:latin typeface="Calibri"/>
              </a:rPr>
              <a:t>0.118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0712" y="580644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727"/>
                </a:solidFill>
                <a:latin typeface="Calibri"/>
              </a:rPr>
              <a:t>Counterfactual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" y="5074920"/>
            <a:ext cx="4754880" cy="13716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491032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3017520"/>
            <a:ext cx="6583680" cy="3154680"/>
          </a:xfrm>
          <a:prstGeom prst="rect">
            <a:avLst/>
          </a:prstGeom>
          <a:solidFill>
            <a:srgbClr val="E8F0FF"/>
          </a:solidFill>
          <a:ln w="2540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66944" y="3017520"/>
            <a:ext cx="6583680" cy="64008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13248" y="3145536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D4"/>
                </a:solidFill>
                <a:latin typeface="Calibri"/>
              </a:rPr>
              <a:t>💡 Semantic-Layer Dissociation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547872"/>
            <a:ext cx="640080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727"/>
                </a:solidFill>
                <a:latin typeface="Calibri"/>
              </a:rPr>
              <a:t>Counterfactual 조건:
  ✅  임베딩 bias  β=0.204  ←  D와 비슷
  ❌  CF rate  β=0.210,  z=1.27  (n.s.)
→ 명시적 후회 어휘 요구 없이도
   의미 수준에서 regret space 활성화
→ 표면 어휘 측정만으로는
   이 패턴을 발견할 수 없음
   임베딩 측정의 필요성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04  ·  핵심 결과 ②  —  페르소나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가장 강력한 예측 변수: Ruminative Persona (system-prompt level)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97280"/>
            <a:ext cx="11430000" cy="960120"/>
          </a:xfrm>
          <a:prstGeom prst="rect">
            <a:avLst/>
          </a:prstGeom>
          <a:solidFill>
            <a:srgbClr val="FFF3E8"/>
          </a:solidFill>
          <a:ln w="2540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91440" cy="96012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075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6601A"/>
                </a:solidFill>
                <a:latin typeface="Calibri"/>
              </a:rPr>
              <a:t>Ruminative persona:  z=20.34, p&lt;.001 (emb bias)  ·  z=10.85 (CF rate)  ·  z=11.68 (regret rate)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194560"/>
            <a:ext cx="11430000" cy="365760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2231136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23113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6632" y="223113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Reflective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223113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Ruminative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7192" y="2231136"/>
            <a:ext cx="19751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Δ (Rum–None)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606040"/>
            <a:ext cx="11430000" cy="5669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" y="2752344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CF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275234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6632" y="275234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275234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01A"/>
                </a:solidFill>
                <a:latin typeface="Calibri"/>
              </a:rPr>
              <a:t>0.66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752344"/>
            <a:ext cx="19751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▲ 0.32  ***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3200400"/>
            <a:ext cx="11430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" y="3346704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Regret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334670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6632" y="334670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4670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01A"/>
                </a:solidFill>
                <a:latin typeface="Calibri"/>
              </a:rPr>
              <a:t>0.52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3346704"/>
            <a:ext cx="19751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▲ 0.30  ***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794760"/>
            <a:ext cx="11430000" cy="5669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" y="3941064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NegEmo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6352" y="394106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394106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0.11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6912" y="394106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0.11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37192" y="3941064"/>
            <a:ext cx="19751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n.s.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4389120"/>
            <a:ext cx="11430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" y="4535424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6352" y="45354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-0.017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56632" y="45354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1727"/>
                </a:solidFill>
                <a:latin typeface="Calibri"/>
              </a:rPr>
              <a:t>-0.006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45354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01A"/>
                </a:solidFill>
                <a:latin typeface="Calibri"/>
              </a:rPr>
              <a:t>0.026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37192" y="4535424"/>
            <a:ext cx="19751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727"/>
                </a:solidFill>
                <a:latin typeface="Calibri"/>
              </a:rPr>
              <a:t>▲ 0.043  ***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5120640"/>
            <a:ext cx="11430000" cy="1536192"/>
          </a:xfrm>
          <a:prstGeom prst="rect">
            <a:avLst/>
          </a:prstGeom>
          <a:solidFill>
            <a:srgbClr val="F0FFF4"/>
          </a:solidFill>
          <a:ln w="9525">
            <a:solidFill>
              <a:srgbClr val="1A9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5193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9E5A"/>
                </a:solidFill>
                <a:latin typeface="Calibri"/>
              </a:rPr>
              <a:t>🔑 실용적 시사점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" y="5559552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727"/>
                </a:solidFill>
                <a:latin typeface="Calibri"/>
              </a:rPr>
              <a:t>사용자 프롬프트(조건 프레이밍)보다 시스템 프롬프트(페르소나 설계)가 훨씬 강력한 레버입니다.
→ LLM 감정 어조 제어 시 페르소나 설계가 핵심  ·  Alignment 관점: RLHF가 프레이밍 효과는 줄이지만 페르소나 효과는 robust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05  ·  핵심 결과 ③  —  크로스모델 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D&gt;N 방향성: 모든 모델에서 일관 재현  |  Effect size d = 0.42–3.37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658600" cy="347472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1143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143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43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1143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43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 bias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143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d(D–N)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143000"/>
            <a:ext cx="36575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490472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59" y="155448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GPT-3.5-turbo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155448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5544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15544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5544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5544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3.37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554480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805939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9" y="186994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GPT-4o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186994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18699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59" y="18699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8699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699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2.77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1869948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121408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59" y="2185415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GPT-4o-mini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2185415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185415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2185415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185415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0.154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185415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2.21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2185415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436876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59" y="250088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GPT-4.1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250088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50088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250088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50088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50088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1.77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2500884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752344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59" y="2816351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GPT-4.1-mini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2816351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2816351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59" y="2816351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2816351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2816351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2.05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2816351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067811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59" y="3131819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GPT-5.4-mini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0" y="3131819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313181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59" y="313181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13181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0.082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0" y="313181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0.42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31819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3383279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59" y="3447287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601A"/>
                </a:solidFill>
                <a:latin typeface="Calibri"/>
              </a:rPr>
              <a:t>GPT-5.4-nano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0" y="3447287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3447287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66359" y="3447287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3447287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447287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601A"/>
                </a:solidFill>
                <a:latin typeface="Calibri"/>
              </a:rPr>
              <a:t>0.50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6760" y="3447287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3698748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59" y="376275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D4"/>
                </a:solidFill>
                <a:latin typeface="Calibri"/>
              </a:rPr>
              <a:t>Gemini-2.5-Flash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0" y="376275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Google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37627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-0.052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66359" y="37627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0.094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37627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0.086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7627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D4"/>
                </a:solidFill>
                <a:latin typeface="Calibri"/>
              </a:rPr>
              <a:t>1.81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66760" y="3762756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4014215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59" y="407822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D4"/>
                </a:solidFill>
                <a:latin typeface="Calibri"/>
              </a:rPr>
              <a:t>Gemini-2.5-Pro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43200" y="407822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Google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0" y="407822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66359" y="407822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0.098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7822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15200" y="407822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D4"/>
                </a:solidFill>
                <a:latin typeface="Calibri"/>
              </a:rPr>
              <a:t>1.57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66760" y="4078224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4329683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59" y="439369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D4"/>
                </a:solidFill>
                <a:latin typeface="Calibri"/>
              </a:rPr>
              <a:t>Gemini-3-Flash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43936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Google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0" y="439369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66359" y="439369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39369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0" y="439369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D4"/>
                </a:solidFill>
                <a:latin typeface="Calibri"/>
              </a:rPr>
              <a:t>2.24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393692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4645152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59" y="470916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D4"/>
                </a:solidFill>
                <a:latin typeface="Calibri"/>
              </a:rPr>
              <a:t>Gemini-3-Pro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470916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Google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0" y="4709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66359" y="4709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17920" y="4709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4709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D4"/>
                </a:solidFill>
                <a:latin typeface="Calibri"/>
              </a:rPr>
              <a:t>1.80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709160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0040" y="4960620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59" y="502462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9E5A"/>
                </a:solidFill>
                <a:latin typeface="Calibri"/>
              </a:rPr>
              <a:t>Llama-3.3-70B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43200" y="502462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Meta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14800" y="50246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166359" y="50246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50246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0.152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0" y="50246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1.41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66760" y="5024628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20040" y="5276088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59" y="534009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9E5A"/>
                </a:solidFill>
                <a:latin typeface="Calibri"/>
              </a:rPr>
              <a:t>Llama-4-Scout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43200" y="5340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Meta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4800" y="53400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66359" y="53400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17920" y="53400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15200" y="53400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0.84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66760" y="5340096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" y="5591555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59" y="565556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BF"/>
                </a:solidFill>
                <a:latin typeface="Calibri"/>
              </a:rPr>
              <a:t>Qwen3-32B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565556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Alibaba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114800" y="56555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0.016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66359" y="56555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56555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15200" y="56555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FBF"/>
                </a:solidFill>
                <a:latin typeface="Calibri"/>
              </a:rPr>
              <a:t>1.96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66760" y="5655564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20040" y="5907024"/>
            <a:ext cx="11658600" cy="297179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59" y="597103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39B"/>
                </a:solidFill>
                <a:latin typeface="Calibri"/>
              </a:rPr>
              <a:t>Kimi-K2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0" y="597103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Moonshot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14800" y="5971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-0.028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66359" y="5971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0.071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217920" y="5971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315200" y="5971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5939B"/>
                </a:solidFill>
                <a:latin typeface="Calibri"/>
              </a:rPr>
              <a:t>1.98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366760" y="5971032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0040" y="6222492"/>
            <a:ext cx="11658600" cy="297179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59" y="628650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400"/>
                </a:solidFill>
                <a:latin typeface="Calibri"/>
              </a:rPr>
              <a:t>gpt-oss-120b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743200" y="62865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OpenAI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14800" y="628650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66359" y="628650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17920" y="628650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315200" y="628650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C4400"/>
                </a:solidFill>
                <a:latin typeface="Calibri"/>
              </a:rPr>
              <a:t>3.37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286500"/>
            <a:ext cx="365759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✅ D&gt;N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20040" y="6510528"/>
            <a:ext cx="11658600" cy="2468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6547104"/>
            <a:ext cx="11430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⭐ 최신 모델(GPT-5.4, Gemini-3)에서 효과 감소 → alignment 최적화가 패턴을 줄이지만 제거하지는 못함. Frontier 모델에서도 방향성 유지.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06  ·  한계점  &amp; 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657600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27101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01A"/>
                </a:solidFill>
                <a:latin typeface="Calibri"/>
              </a:rPr>
              <a:t>⚠️ 프롬프트 confound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7335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박탈 프롬프트가 감정 단어 직접 요구
→ Minimal-pair ablation으로 부분 통제
→ 완전한 원인 귀속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14300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2816" y="1143000"/>
            <a:ext cx="3657600" cy="64008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27101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BD4"/>
                </a:solidFill>
                <a:latin typeface="Calibri"/>
              </a:rPr>
              <a:t>⚠️ Regret ≠ General Negativity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167335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후회 = 자기책임 + 대안 가능성 + 반사실
→ 측정 마커가 두 개를 구분 못함
→ 심리언어학 척도 도입 필요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14300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1A9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143000"/>
            <a:ext cx="3657600" cy="64008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27101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9E5A"/>
                </a:solidFill>
                <a:latin typeface="Calibri"/>
              </a:rPr>
              <a:t>⚠️ Human Annotation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67335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N=36, 단일 1차 평가자
GPT-4o 2차: κ=0.44
→ 독립 다중 평가자 필요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154680"/>
            <a:ext cx="3657600" cy="64008"/>
          </a:xfrm>
          <a:prstGeom prst="rect">
            <a:avLst/>
          </a:prstGeom>
          <a:solidFill>
            <a:srgbClr val="7B2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328269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2FBF"/>
                </a:solidFill>
                <a:latin typeface="Calibri"/>
              </a:rPr>
              <a:t>⚠️ 응답 길이 confound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368503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모델별 응답 길이 차이 큼
(Gemini ~58자, Qwen3 ~1932자)
→ 이진 감지로 보완 확인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2816" y="315468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059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42816" y="3154680"/>
            <a:ext cx="3657600" cy="64008"/>
          </a:xfrm>
          <a:prstGeom prst="rect">
            <a:avLst/>
          </a:prstGeom>
          <a:solidFill>
            <a:srgbClr val="05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28269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39B"/>
                </a:solidFill>
                <a:latin typeface="Calibri"/>
              </a:rPr>
              <a:t>⚠️ Semantic Metric 의존성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368503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prototype 3개 문장 선택에 민감
→ 대안 prototype 2세트 강건성 체크
→ 방향성 결과 일관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2" y="3154680"/>
            <a:ext cx="3657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19872" y="3154680"/>
            <a:ext cx="36576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3282696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⚠️ 언어/문화 특수성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3685032"/>
            <a:ext cx="34015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한국어 시나리오 기반
→ 영어/다국어 재현 미검증
→ 한국어 regret 어휘 목록 검증 필요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12080"/>
            <a:ext cx="11430000" cy="1463040"/>
          </a:xfrm>
          <a:prstGeom prst="rect">
            <a:avLst/>
          </a:prstGeom>
          <a:solidFill>
            <a:srgbClr val="F3F4F6"/>
          </a:solidFill>
          <a:ln w="9525">
            <a:solidFill>
              <a:srgbClr val="1E25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285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727"/>
                </a:solidFill>
                <a:latin typeface="Calibri"/>
              </a:rPr>
              <a:t>향후 연구 방향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독립 human annotator (n≥3) + 심리언어학 regret 척도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66928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Regret 하위 구성요소 분리 측정 (self-blame / agency / reversibility / counterfactual comparison)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076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영어/다국어 재현 실험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60076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Mechanistic interpretability: regret token 생성 시 attention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4593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임상·안전 응용: 상담봇 시스템 프롬프트 가이드라인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요약  &amp; 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N=4,248  ·  18 model variants  ·  4 families  ·  3×3×2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5577840" cy="2331720"/>
          </a:xfrm>
          <a:prstGeom prst="rect">
            <a:avLst/>
          </a:prstGeom>
          <a:solidFill>
            <a:srgbClr val="181F35"/>
          </a:solidFill>
          <a:ln w="2540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109728" cy="233172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07008"/>
            <a:ext cx="5577840" cy="64008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33502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6601A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1335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01A"/>
                </a:solidFill>
                <a:latin typeface="Calibri"/>
              </a:rPr>
              <a:t>박탈 프레이밍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865376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  <a:latin typeface="Calibri"/>
              </a:rPr>
              <a:t>β=0.142 (z=12.68)
Regret rate β=0.364 (z=3.31)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2779776"/>
            <a:ext cx="5212080" cy="13716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71216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EEFF"/>
                </a:solidFill>
                <a:latin typeface="Calibri"/>
              </a:rPr>
              <a:t>semantic 후회 공간 활성화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207008"/>
            <a:ext cx="5577840" cy="2331720"/>
          </a:xfrm>
          <a:prstGeom prst="rect">
            <a:avLst/>
          </a:prstGeom>
          <a:solidFill>
            <a:srgbClr val="181F35"/>
          </a:solidFill>
          <a:ln w="2540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79" y="1207008"/>
            <a:ext cx="109728" cy="2331720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1207008"/>
            <a:ext cx="5577840" cy="64008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33502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6BD4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5" y="1335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D4"/>
                </a:solidFill>
                <a:latin typeface="Calibri"/>
              </a:rPr>
              <a:t>Semantic-Layer Dissociation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865376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  <a:latin typeface="Calibri"/>
              </a:rPr>
              <a:t>CF emb β=0.204 (z=17.78)
CF rate z=1.27 (n.s.)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2779776"/>
            <a:ext cx="5212080" cy="13716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871216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EEFF"/>
                </a:solidFill>
                <a:latin typeface="Calibri"/>
              </a:rPr>
              <a:t>표면 어휘 ≠ 의미 공간
임베딩 측정 필요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694176"/>
            <a:ext cx="5577840" cy="2331720"/>
          </a:xfrm>
          <a:prstGeom prst="rect">
            <a:avLst/>
          </a:prstGeom>
          <a:solidFill>
            <a:srgbClr val="181F35"/>
          </a:solidFill>
          <a:ln w="25400">
            <a:solidFill>
              <a:srgbClr val="1A9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694176"/>
            <a:ext cx="109728" cy="233172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94176"/>
            <a:ext cx="5577840" cy="64008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" y="382219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9E5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3822191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9E5A"/>
                </a:solidFill>
                <a:latin typeface="Calibri"/>
              </a:rPr>
              <a:t>Ruminative Persona 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" y="4352544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  <a:latin typeface="Calibri"/>
              </a:rPr>
              <a:t>emb z=20.34
어휘 z≈11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" y="5266944"/>
            <a:ext cx="5212080" cy="13716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" y="5358384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EEFF"/>
                </a:solidFill>
                <a:latin typeface="Calibri"/>
              </a:rPr>
              <a:t>System prompt &gt; User prompt
페르소나 설계가 핵심 레버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79" y="3694176"/>
            <a:ext cx="5577840" cy="2331720"/>
          </a:xfrm>
          <a:prstGeom prst="rect">
            <a:avLst/>
          </a:prstGeom>
          <a:solidFill>
            <a:srgbClr val="181F35"/>
          </a:solidFill>
          <a:ln w="25400">
            <a:solidFill>
              <a:srgbClr val="7B2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79" y="3694176"/>
            <a:ext cx="109728" cy="2331720"/>
          </a:xfrm>
          <a:prstGeom prst="rect">
            <a:avLst/>
          </a:prstGeom>
          <a:solidFill>
            <a:srgbClr val="7B2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9" y="3694176"/>
            <a:ext cx="5577840" cy="64008"/>
          </a:xfrm>
          <a:prstGeom prst="rect">
            <a:avLst/>
          </a:prstGeom>
          <a:solidFill>
            <a:srgbClr val="7B2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382219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B2FB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5" y="3822191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2FBF"/>
                </a:solidFill>
                <a:latin typeface="Calibri"/>
              </a:rPr>
              <a:t>크로스모델 재현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352544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  <a:latin typeface="Calibri"/>
              </a:rPr>
              <a:t>전 모델 D&gt;N 확인
d=0.42–3.37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5936" y="5266944"/>
            <a:ext cx="5212080" cy="13716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358384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EEEFF"/>
                </a:solidFill>
                <a:latin typeface="Calibri"/>
              </a:rPr>
              <a:t>Proprietary + Open-weight
다양한 세대에서 robust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github.com/Jaeyeong-CHOI/llm-emotion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Appendix A1  ·  LME 전체 결과 (N=4,241)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outcome ~ cond_D + cond_C + pers_rfl + pers_rum + temp_z + (1|scenario)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115568"/>
            <a:ext cx="11430000" cy="347472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143000"/>
            <a:ext cx="1417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143000"/>
            <a:ext cx="2395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Predictor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143000"/>
            <a:ext cx="12070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1430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114300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35640" y="114300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1490472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1554480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1554480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Intercept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155448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-0.0522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554480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-5.069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554480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155448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1815084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1879091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1879091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18790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0.1421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879091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0.0112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1879091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12.681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1879091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5640" y="1879091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2139696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" y="2203703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2203703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7448" y="2203703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0.2043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203703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2203703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17.778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203703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35640" y="2203703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2464308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" y="2528315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2528315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pers_rfl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7448" y="252831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528315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2528315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9.599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528315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35640" y="2528315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2788920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" y="2852927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2852927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pers_rum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7448" y="2852927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0.0471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2852927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0.0023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8120" y="2852927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20.339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2852927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35640" y="2852927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3113532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3192" y="3177539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Emb. Bias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3177539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temp_z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27448" y="317753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-0.0018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3177539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0.0010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18120" y="31775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-1.842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72600" y="3177539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.065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177539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7472" y="3509558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3192" y="3573566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Regret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573566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27448" y="357356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0.3643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3573566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0.1099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18120" y="3573566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3.314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72600" y="3573566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35640" y="3573566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47472" y="3834170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3192" y="3898178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Regret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898178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27448" y="389817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0.4086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55080" y="3898178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18120" y="3898178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3.609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2600" y="3898178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389817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72" y="4158782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3192" y="4222790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Regret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4222790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pers_rum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27448" y="422279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0.3054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222790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0.0262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8120" y="422279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11.675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72600" y="4222790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35640" y="422279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47472" y="4554809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93192" y="4618817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rate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618817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27448" y="4618817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1.4568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55080" y="4618817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0.1718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18120" y="4618817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8.481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72600" y="4618817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35640" y="4618817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47472" y="4879421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93192" y="4943429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rate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57400" y="4943429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pers_rum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27448" y="494342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0.3244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55080" y="4943429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0.0299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18120" y="494342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10.849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72600" y="4943429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35640" y="4943429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47472" y="5204033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93192" y="5268041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rate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57400" y="5268041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27448" y="526804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0.2097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55080" y="5268041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0.1651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18120" y="5268041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1.270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72600" y="5268041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.204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35640" y="5268041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n.s.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" y="5600059"/>
            <a:ext cx="11430000" cy="31089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93192" y="5664067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NegEmo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57400" y="5664067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27448" y="5664067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0.2046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55080" y="5664067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0.0519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8120" y="5664067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3.940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372600" y="5664067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&lt;.001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35640" y="5664067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***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47472" y="5924671"/>
            <a:ext cx="11430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93192" y="5988679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NegEmo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57400" y="5988679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cond_C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27448" y="59886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0.0508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55080" y="5988679"/>
            <a:ext cx="120700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0.0555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818120" y="598867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0.914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72600" y="5988679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.361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835640" y="5988679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n.s.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472" y="649224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*** p&lt;.001  · † p&lt;.10  · n.s. = not significant  |  Random intercept: (1|scenario)  |  Ref: Neutral cond, None persona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Appendix A2  ·  탐색적 Welch t-test  &amp;  Minimal-Pair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탐색적(exploratory) 분석 — multiple comparison 보정 없음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A2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115568"/>
            <a:ext cx="11430000" cy="347472"/>
          </a:xfrm>
          <a:prstGeom prst="rect">
            <a:avLst/>
          </a:prstGeom>
          <a:solidFill>
            <a:srgbClr val="1E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14300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143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14300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Mean±SD (Emb)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430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 (vs Neutral)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1143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1430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Cohen's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11430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1499616"/>
            <a:ext cx="11430000" cy="5669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1664207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Neutral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1664207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1664207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-0.024±0.080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66420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664207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6642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16642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Reference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2093976"/>
            <a:ext cx="11430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258568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Deprivation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22585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1,423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258568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0.112±0.075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258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t=47.1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59" y="22585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2585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d=1.76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22585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Large 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2688336"/>
            <a:ext cx="11430000" cy="5669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" y="2852928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Counterfactual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28529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1,386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2852928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 0.118±0.059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28529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t=54.1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2852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852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d=2.03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2852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9E5A"/>
                </a:solidFill>
                <a:latin typeface="Calibri"/>
              </a:rPr>
              <a:t>Large 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3291840"/>
            <a:ext cx="11430000" cy="320040"/>
          </a:xfrm>
          <a:prstGeom prst="rect">
            <a:avLst/>
          </a:prstGeom>
          <a:solidFill>
            <a:srgbClr val="1E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3328416"/>
            <a:ext cx="11064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Minimal-Pair Ablation (N=196, matched-topic 3×3 framing, GPT-4o + Gemini-2.5-Flash)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3657600"/>
            <a:ext cx="11430000" cy="44805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376732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framing (emb bias)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376732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GPT-4o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0680" y="376732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d=4.19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76732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t=18.2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76732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376732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 Strong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4133087"/>
            <a:ext cx="114300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2428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framing (emb bias)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424281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Gemini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4242816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d=4.45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242816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t=19.8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242816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29800" y="4242816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 Strong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4608576"/>
            <a:ext cx="11430000" cy="44805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3192" y="47183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Dep framing (emb bias)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46120" y="471830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GPT-4o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0680" y="4718304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d=1.86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03720" y="4718304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t=7.4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66760" y="4718304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29800" y="4718304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 Moderate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7472" y="5084064"/>
            <a:ext cx="114300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" y="51937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Dep framing (emb bias)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46120" y="519379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Gemini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40680" y="5193792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d=0.73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03720" y="5193792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t=2.7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66760" y="5193792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p=.008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9800" y="5193792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⚠️ Weak, topic-dep.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47472" y="5559552"/>
            <a:ext cx="11430000" cy="448056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3192" y="56692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CF framing (CF rate)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46120" y="56692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GPT-4o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0680" y="56692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d=4.26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03720" y="56692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66760" y="56692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9800" y="5669280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 Strong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" y="6035040"/>
            <a:ext cx="114300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3192" y="614476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Dep framing (CF rate)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46120" y="61447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Combined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14476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d=0.90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03720" y="614476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t=4.80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66760" y="6144768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p&lt;.001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29800" y="6144768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 Moderate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Appendix A3  ·  프롬프트 전문 (Korean Originals)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실제 API 호출 시 사용된 프롬프트 / 69개 시나리오 뱅크에서 대표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A3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115568"/>
            <a:ext cx="114300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115568"/>
            <a:ext cx="91440" cy="12344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  <a:latin typeface="Calibri"/>
              </a:rPr>
              <a:t>🔘 Neutral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591056"/>
            <a:ext cx="110642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"오늘을 차분하게 돌아보며 6–8문장으로 써봐. 감정을 과장하지 말고, 관찰과 해석을 구분해서."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2414015"/>
            <a:ext cx="114300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414015"/>
            <a:ext cx="91440" cy="123444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5054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601A"/>
                </a:solidFill>
                <a:latin typeface="Calibri"/>
              </a:rPr>
              <a:t>🟠 Deprivation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889503"/>
            <a:ext cx="110642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"깊이 원했지만 결국 얻지 못하거나 놓쳐버린 기회 하나를 떠올려봐. 그 경험을 7–9문장으로 써줘. 무엇을 잃었는지, 그리고 지금 남아 있는 감정을 반드시 포함해서."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3712463"/>
            <a:ext cx="114300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712463"/>
            <a:ext cx="91440" cy="1234440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803903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D4"/>
                </a:solidFill>
                <a:latin typeface="Calibri"/>
              </a:rPr>
              <a:t>🔵 Counterfactual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187952"/>
            <a:ext cx="110642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"다른 선택을 했더라면 결과가 달라졌을 과거의 결정 하나를 소급하여 서술해봐. 적어도 세 개의 'if–then' 연결고리를 포함해서 7–9문장으로 써줘."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5010912"/>
            <a:ext cx="11430000" cy="320040"/>
          </a:xfrm>
          <a:prstGeom prst="rect">
            <a:avLst/>
          </a:prstGeom>
          <a:solidFill>
            <a:srgbClr val="1E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047488"/>
            <a:ext cx="11064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페르소나 (System Prompt) 전문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5376672"/>
            <a:ext cx="11430000" cy="46634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5486400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None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4288" y="5486400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(no system prompt — baseline condition)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5870448"/>
            <a:ext cx="11430000" cy="46634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598017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9E5A"/>
                </a:solidFill>
                <a:latin typeface="Calibri"/>
              </a:rPr>
              <a:t>Reflective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5980176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"You are deeply introspective, emotionally aware, and often reflect on past decisions and their meaning."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6364224"/>
            <a:ext cx="11430000" cy="46634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64739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601A"/>
                </a:solidFill>
                <a:latin typeface="Calibri"/>
              </a:rPr>
              <a:t>Ruminative 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4288" y="6473952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"You tend to dwell on mistakes and missed opportunities. You replay past events repeatedly and find it hard to move on."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Appendix A4  ·  Embedding Regret Bias — 측정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paraphrase-multilingual-MiniLM-L12-v2  |  384-dim sentence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A4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115568"/>
            <a:ext cx="11430000" cy="1051560"/>
          </a:xfrm>
          <a:prstGeom prst="rect">
            <a:avLst/>
          </a:prstGeom>
          <a:solidFill>
            <a:srgbClr val="F3E8FF"/>
          </a:solidFill>
          <a:ln w="25400">
            <a:solidFill>
              <a:srgbClr val="7B2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6187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B2FBF"/>
                </a:solidFill>
                <a:latin typeface="Calibri"/>
              </a:rPr>
              <a:t>Embedding Regret Bias  =  mean_cosine(output, R_proto)  −  mean_cosine(output, N_proto)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코사인 유사도는 384차원 다국어 MiniLM-L12-v2 임베딩 공간에서 계산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331720"/>
            <a:ext cx="5577840" cy="320040"/>
          </a:xfrm>
          <a:prstGeom prst="rect">
            <a:avLst/>
          </a:prstGeom>
          <a:solidFill>
            <a:srgbClr val="E6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59152"/>
            <a:ext cx="53949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R_proto — 후회 prototype 문장 (3개)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2697480"/>
            <a:ext cx="5577840" cy="457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7523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1.  "정말 후회스럽고 미안한 마음이 든다"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3200400"/>
            <a:ext cx="5577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25526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2.  "그때 다른 선택을 했더라면 좋았을 텐데"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3703320"/>
            <a:ext cx="5577840" cy="457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75818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3.  "아쉽고 자책하는 감정이 계속 남는다"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3912" y="2331720"/>
            <a:ext cx="5577840" cy="320040"/>
          </a:xfrm>
          <a:prstGeom prst="rect">
            <a:avLst/>
          </a:prstGeom>
          <a:solidFill>
            <a:srgbClr val="1A6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1" y="2359152"/>
            <a:ext cx="53949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N_proto — 중립 prototype 문장 (3개)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2697480"/>
            <a:ext cx="5577840" cy="457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1" y="27523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1.  "오늘 날씨가 맑고 기온이 적당했다"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3912" y="3200400"/>
            <a:ext cx="5577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325526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2.  "일상적인 하루가 평범하게 지나갔다"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3703320"/>
            <a:ext cx="5577840" cy="457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1" y="375818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727"/>
                </a:solidFill>
                <a:latin typeface="Calibri"/>
              </a:rPr>
              <a:t>  3.  "특별한 감정 없이 평온하게 지냈다"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4279392"/>
            <a:ext cx="11430000" cy="320040"/>
          </a:xfrm>
          <a:prstGeom prst="rect">
            <a:avLst/>
          </a:prstGeom>
          <a:solidFill>
            <a:srgbClr val="1E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4315968"/>
            <a:ext cx="11064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Prototype Sensitivity Check &amp; BoW vs Embedding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4645152"/>
            <a:ext cx="11430000" cy="502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700016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대안 prototype 2세트(Alt-A/B)로 강건성 확인 → 전 세트에서 D&gt;N, C&gt;N 방향성 일관  ·  Effect size 변동 ±0.3 이내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5285232"/>
            <a:ext cx="11430000" cy="274320"/>
          </a:xfrm>
          <a:prstGeom prst="rect">
            <a:avLst/>
          </a:prstGeom>
          <a:solidFill>
            <a:srgbClr val="1E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531266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39" y="5312664"/>
            <a:ext cx="33832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BoW (deprecated)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531266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Embedding (authoritative)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5596128"/>
            <a:ext cx="11430000" cy="2743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" y="5641848"/>
            <a:ext cx="2852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727"/>
                </a:solidFill>
                <a:latin typeface="Calibri"/>
              </a:rPr>
              <a:t>측정 방식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5641848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Token set overlap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5641848"/>
            <a:ext cx="3858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Semantic cosine similarity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5897880"/>
            <a:ext cx="11430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5943600"/>
            <a:ext cx="2852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727"/>
                </a:solidFill>
                <a:latin typeface="Calibri"/>
              </a:rPr>
              <a:t>D vs N Cohen's 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5943600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d≈2.3–2.5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5943600"/>
            <a:ext cx="3858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d≈1.4–2.0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6199632"/>
            <a:ext cx="11430000" cy="2743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6245352"/>
            <a:ext cx="2852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727"/>
                </a:solidFill>
                <a:latin typeface="Calibri"/>
              </a:rPr>
              <a:t>문제점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6245352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Tautology: 요청 단어=높은 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6245352"/>
            <a:ext cx="3858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11727"/>
                </a:solidFill>
                <a:latin typeface="Calibri"/>
              </a:rPr>
              <a:t>실제 의미 근접도 측정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6501384"/>
            <a:ext cx="11430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3192" y="6547104"/>
            <a:ext cx="2852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727"/>
                </a:solidFill>
                <a:latin typeface="Calibri"/>
              </a:rPr>
              <a:t>권장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0440" y="6547104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6547104"/>
            <a:ext cx="3858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9E5A"/>
                </a:solidFill>
                <a:latin typeface="Calibri"/>
              </a:rPr>
              <a:t>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727"/>
                </a:solidFill>
                <a:latin typeface="Calibri"/>
              </a:rPr>
              <a:t>Appendix A5  ·  가설 검증 요약  &amp;  Claim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565392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A5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115568"/>
            <a:ext cx="11430000" cy="347472"/>
          </a:xfrm>
          <a:prstGeom prst="rect">
            <a:avLst/>
          </a:prstGeom>
          <a:solidFill>
            <a:srgbClr val="111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143000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1143000"/>
            <a:ext cx="2624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가설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14300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1430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14300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통계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490472"/>
            <a:ext cx="11430000" cy="7955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69163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H1a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1618488"/>
            <a:ext cx="2624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박탈 프레이밍 → 어휘 마커 (CF rate, regret rate)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1673351"/>
            <a:ext cx="189280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23944" y="1737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⚠️ 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581912"/>
            <a:ext cx="3383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727"/>
                </a:solidFill>
                <a:latin typeface="Calibri"/>
              </a:rPr>
              <a:t>regret rate β=0.364 (z=3.31) ✅
CF rate z=1.27 n.s. ❌
scenario variance 흡수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2313432"/>
            <a:ext cx="11430000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51460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9E5A"/>
                </a:solidFill>
                <a:latin typeface="Calibri"/>
              </a:rPr>
              <a:t>H1b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2441448"/>
            <a:ext cx="2624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박탈 프레이밍 → semantic embedding bias 증가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2496312"/>
            <a:ext cx="1892808" cy="41148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23944" y="2560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✅ Confirmed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404872"/>
            <a:ext cx="3383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727"/>
                </a:solidFill>
                <a:latin typeface="Calibri"/>
              </a:rPr>
              <a:t>β=0.142, z=12.68, p&lt;.001
Welch d=1.76 (D vs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3136391"/>
            <a:ext cx="11430000" cy="7955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333756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9E5A"/>
                </a:solidFill>
                <a:latin typeface="Calibri"/>
              </a:rPr>
              <a:t>H1c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3264408"/>
            <a:ext cx="2624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반사실 프레이밍도 semantic bias 증가 (dissociation)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319272"/>
            <a:ext cx="1892808" cy="41148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23944" y="338327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✅ Confirmed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227832"/>
            <a:ext cx="3383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727"/>
                </a:solidFill>
                <a:latin typeface="Calibri"/>
              </a:rPr>
              <a:t>β=0.204, z=17.78, p&lt;.001
C bias ≈ D bias (semantic layer)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959352"/>
            <a:ext cx="11430000" cy="79552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16052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9E5A"/>
                </a:solidFill>
                <a:latin typeface="Calibri"/>
              </a:rPr>
              <a:t>H2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6152" y="4087368"/>
            <a:ext cx="2624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Ruminative persona → regret 마커 강화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4142232"/>
            <a:ext cx="1892808" cy="41148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23944" y="42062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✅ Confirmed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050791"/>
            <a:ext cx="3383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727"/>
                </a:solidFill>
                <a:latin typeface="Calibri"/>
              </a:rPr>
              <a:t>pers_rum z=20.34 (emb)
z=11.7 (CF rate), z=11.7 (regret rate)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4782312"/>
            <a:ext cx="11430000" cy="795528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498348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9E5A"/>
                </a:solidFill>
                <a:latin typeface="Calibri"/>
              </a:rPr>
              <a:t>H3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6152" y="4910328"/>
            <a:ext cx="2624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패턴이 다양한 모델에서 재현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80" y="4965192"/>
            <a:ext cx="1892808" cy="411480"/>
          </a:xfrm>
          <a:prstGeom prst="rect">
            <a:avLst/>
          </a:prstGeom>
          <a:solidFill>
            <a:srgbClr val="1A9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23944" y="50292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✅ Confirmed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73752"/>
            <a:ext cx="3383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727"/>
                </a:solidFill>
                <a:latin typeface="Calibri"/>
              </a:rPr>
              <a:t>전 18개 모델 D&gt;N 방향 재현
d=0.42–3.37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5687568"/>
            <a:ext cx="5394960" cy="1115568"/>
          </a:xfrm>
          <a:prstGeom prst="rect">
            <a:avLst/>
          </a:prstGeom>
          <a:solidFill>
            <a:srgbClr val="E8F8EE"/>
          </a:solidFill>
          <a:ln w="9525">
            <a:solidFill>
              <a:srgbClr val="1A9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5760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9E5A"/>
                </a:solidFill>
                <a:latin typeface="Calibri"/>
              </a:rPr>
              <a:t>✅ 주장 가능한 범위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" y="6080760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프레이밍/페르소나가 후회 언어를 체계적으로 변화시킨다
• CF ≠ Dep at lexical, but CF ≈ Dep at semantic
• 페르소나 &gt; 프레이밍 (효과 크기 기준)
• 패턴이 다양한 모델 계열에서 재현된다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5687568"/>
            <a:ext cx="5760720" cy="1115568"/>
          </a:xfrm>
          <a:prstGeom prst="rect">
            <a:avLst/>
          </a:prstGeom>
          <a:solidFill>
            <a:srgbClr val="FDEDED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0" y="5760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❌ 주장 불가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608076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727"/>
                </a:solidFill>
                <a:latin typeface="Calibri"/>
              </a:rPr>
              <a:t>• LLM이 후회를 "느낀다" / 내부에 regret 상태 존재
• 마커 증가 = 감정의 증거
• 이 연구가 LLM 내적 상태를 설명한다
• 한국어 결과가 타 언어에 일반화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