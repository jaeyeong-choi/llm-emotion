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LLM은 박탈 프레이밍 하에서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후회와 유사한 언어를 생성하는가?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C8C8C8"/>
                </a:solidFill>
                <a:latin typeface="Calibri"/>
              </a:defRPr>
            </a:pPr>
            <a:r>
              <a:t>Do LLMs Produce Regret-Like Language Under Deprivation Framing?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A0A0A0"/>
                </a:solidFill>
                <a:latin typeface="Calibri"/>
              </a:defRPr>
            </a:pPr>
            <a:r>
              <a:t>A Prompt-Conditioned Behavioral Study Across Diverse Model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23360"/>
            <a:ext cx="228600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E6601A"/>
                </a:solidFill>
                <a:latin typeface="Calibri"/>
              </a:defRPr>
            </a:pPr>
            <a:r>
              <a:t>Jaeyeong CHOI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DGIST EECS  |  jaeyeong2022@dgist.ac.kr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4114800"/>
            <a:ext cx="1645920" cy="1005840"/>
          </a:xfrm>
          <a:prstGeom prst="rect">
            <a:avLst/>
          </a:prstGeom>
          <a:solidFill>
            <a:srgbClr val="23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4114800"/>
            <a:ext cx="164592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4297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4,248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548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Total Samples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4114800"/>
            <a:ext cx="1645920" cy="1005840"/>
          </a:xfrm>
          <a:prstGeom prst="rect">
            <a:avLst/>
          </a:prstGeom>
          <a:solidFill>
            <a:srgbClr val="23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4114800"/>
            <a:ext cx="1645920" cy="4572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4297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7548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Model Variants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727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Research Question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36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Why study regret-like language in LLMs?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38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94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3 × 3 × 2 controlled design across 18 model variants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968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968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Results: Condition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52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LME analysis of prompt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552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552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Results: Semantic-Layer Dissociation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112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Embedding vs. surface marker divergence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136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Results: Ruminative Persona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69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System prompt as strongest activation lever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Results: Cross-Model Replication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28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Effect sizes across 4 model families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30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30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86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Scope boundaries and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887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601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8887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6144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Four key findings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371600"/>
            <a:ext cx="1828800" cy="4572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14447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2029968"/>
            <a:ext cx="1828800" cy="4572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2103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688336"/>
            <a:ext cx="1828800" cy="45720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27614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3346704"/>
            <a:ext cx="1828800" cy="45720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341985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4005072"/>
            <a:ext cx="1828800" cy="45720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40782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4663440"/>
            <a:ext cx="18288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4736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5321808"/>
            <a:ext cx="18288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5980176"/>
            <a:ext cx="1828800" cy="457200"/>
          </a:xfrm>
          <a:prstGeom prst="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60533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Research Question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515600" cy="128016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4864" cy="128016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E6601A"/>
                </a:solidFill>
                <a:latin typeface="Calibri"/>
              </a:defRPr>
            </a:pPr>
            <a:r>
              <a:t>Research Question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111727"/>
                </a:solidFill>
                <a:latin typeface="Calibri"/>
              </a:defRPr>
            </a:pPr>
            <a:r>
              <a:t>Under what prompting conditions does regret-associated language systematically appear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111727"/>
                </a:solidFill>
                <a:latin typeface="Calibri"/>
              </a:defRPr>
            </a:pPr>
            <a:r>
              <a:t>in LLM-generated text, and does this pattern replicate across model families?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383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338328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Safety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LLM outputs increasingly used in emotionally sensitive applications — knowing which prompt structures activate affect-laden patterns matters.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926080"/>
            <a:ext cx="3383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926080"/>
            <a:ext cx="3383280" cy="54864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154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6BD4"/>
                </a:solidFill>
                <a:latin typeface="Calibri"/>
              </a:defRPr>
            </a:pPr>
            <a:r>
              <a:t>Behavioral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Systematic study of how affect-laden framing shifts lexical distributions is important for alignment evaluation.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926080"/>
            <a:ext cx="3383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926080"/>
            <a:ext cx="3383280" cy="54864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154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B2FBF"/>
                </a:solidFill>
                <a:latin typeface="Calibri"/>
              </a:defRPr>
            </a:pPr>
            <a:r>
              <a:t>Anthropomorphism Caution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We treat regret-like language as a behavioral signal of prompt-conditioned generation, NOT evidence of subjective experience.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280"/>
                </a:solidFill>
                <a:latin typeface="Calibri"/>
              </a:defRPr>
            </a:pPr>
            <a:r>
              <a:t>Gap: Few studies examine whether affect-laden framing reliably shifts lexical distribution in a controlled, cross-model fashion.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256032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80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3 × 3 ×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Factorial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097280"/>
            <a:ext cx="2560320" cy="4572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280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N = 4,248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Total Samples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097280"/>
            <a:ext cx="2560320" cy="457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80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18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4 Model Families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097280"/>
            <a:ext cx="2560320" cy="4572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80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4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Automated Markers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31520" y="2468880"/>
          <a:ext cx="67665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Persona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Reflective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Ruminative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Neutral 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Factual reflection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Factual reflection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Factual reflection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Deprivation (D)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Loss / missed opp.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Loss / missed opp.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Loss / missed opp.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Counterfactual (C)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If-then 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If-then 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If-then 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04672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727"/>
                </a:solidFill>
                <a:latin typeface="Calibri"/>
              </a:defRPr>
            </a:pPr>
            <a:r>
              <a:t>Output Markers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017520"/>
            <a:ext cx="73152" cy="4572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017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727"/>
                </a:solidFill>
                <a:latin typeface="Calibri"/>
              </a:defRPr>
            </a:pPr>
            <a:r>
              <a:t>CF expression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735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Surface counterfactual phrases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657600"/>
            <a:ext cx="73152" cy="4572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727"/>
                </a:solidFill>
                <a:latin typeface="Calibri"/>
              </a:defRPr>
            </a:pPr>
            <a:r>
              <a:t>Regret-word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136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Explicit regret lexicon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297680"/>
            <a:ext cx="73152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727"/>
                </a:solidFill>
                <a:latin typeface="Calibri"/>
              </a:defRPr>
            </a:pPr>
            <a:r>
              <a:t>NegEmo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5537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Negative emotion terms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937760"/>
            <a:ext cx="73152" cy="45720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937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727"/>
                </a:solidFill>
                <a:latin typeface="Calibri"/>
              </a:defRPr>
            </a:pPr>
            <a:r>
              <a:t>Semantic regret bias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1937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Embedding cosine similarity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All 9 condition-persona combinations queried at T = 0.2 and T = 0.7 across 18 model variants. Models span GPT, Claude, Gemini, and open-weight families (4 families, 5 organizations).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Results: Condition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727"/>
                </a:solidFill>
                <a:latin typeface="Calibri"/>
              </a:defRPr>
            </a:pPr>
            <a:r>
              <a:t>Semantic Regret Bias by Condition (Embedding)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727"/>
                </a:solidFill>
                <a:latin typeface="Calibri"/>
              </a:defRPr>
            </a:pPr>
            <a:r>
              <a:t>Neutral (N)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719072"/>
            <a:ext cx="274320" cy="320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6916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727"/>
                </a:solidFill>
                <a:latin typeface="Calibri"/>
              </a:defRPr>
            </a:pPr>
            <a:r>
              <a:t>Deprivation (D)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496312"/>
            <a:ext cx="2337206" cy="32004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7566" y="2468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β=0.142, z=12.68***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727"/>
                </a:solidFill>
                <a:latin typeface="Calibri"/>
              </a:defRPr>
            </a:pPr>
            <a:r>
              <a:t>Counterfactual (C)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273552"/>
            <a:ext cx="3357676" cy="32004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8036" y="32461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β=0.204, z=17.78***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097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727"/>
                </a:solidFill>
                <a:latin typeface="Calibri"/>
              </a:defRPr>
            </a:pPr>
            <a:r>
              <a:t>LME Results (Confirmatory Model)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83680" y="1554480"/>
          <a:ext cx="44805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731520"/>
                <a:gridCol w="731520"/>
                <a:gridCol w="7315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Predictor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12.68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cond_C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0.204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17.78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n.s.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Ruminative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20.34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Ruminative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54864" cy="109728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Key Finding: Both D and C conditions significantly elevate semantic regret bias (embedding level). However, CF rate elevation under deprivation is NOT confirmed by confirmatory LME (z=1.27, n.s.) — revealing a semantic-layer dissociation.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Results: Semantic-Layer Dissociation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029200" cy="54864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6BD4"/>
                </a:solidFill>
                <a:latin typeface="Calibri"/>
              </a:defRPr>
            </a:pPr>
            <a:r>
              <a:t>Semantic Layer (Embedding Cosine Bias)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D vs N: d = 1.76 (large effect)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C vs N: d = 2.03 (large effect)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Both conditions significantly activate regret-associated semantic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46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LME confirms: β_D = 0.142***, β_C = 0.204***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029200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601A"/>
                </a:solidFill>
                <a:latin typeface="Calibri"/>
              </a:defRPr>
            </a:pPr>
            <a:r>
              <a:t>Surface Layer (Lexical CF Markers)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CF rate under D: z = 1.27, 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231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Counterfactual framing activates semantic space...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...without proportionally increasing surface markers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  Regret-word &amp; negemo reach significance but absorbed by scenario variance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515600" cy="11887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4864" cy="118872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6BD4"/>
                </a:solidFill>
                <a:latin typeface="Calibri"/>
              </a:defRPr>
            </a:pPr>
            <a:r>
              <a:t>Semantic-Layer Dissociation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Counterfactual framing activates regret-associated semantic space (embedding level) without proportionally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increasing surface lexical markers — a marker-specific dissociation between deep and surface representations.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Results: Ruminative Persona Effect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solidFill>
            <a:srgbClr val="F5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4864" cy="91440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887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7B2FBF"/>
                </a:solidFill>
                <a:latin typeface="Calibri"/>
              </a:defRPr>
            </a:pPr>
            <a:r>
              <a:t>Strongest predictor in the model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11727"/>
                </a:solidFill>
                <a:latin typeface="Calibri"/>
              </a:defRPr>
            </a:pPr>
            <a:r>
              <a:t>The ruminative persona instruction is a more reliable lever for affect-laden generation than user-prompt framing.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377440"/>
          <a:ext cx="101498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Persona</a:t>
                      </a:r>
                    </a:p>
                  </a:txBody>
                  <a:tcPr anchor="ctr">
                    <a:solidFill>
                      <a:srgbClr val="7B2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Emb Bias (z)</a:t>
                      </a:r>
                    </a:p>
                  </a:txBody>
                  <a:tcPr anchor="ctr">
                    <a:solidFill>
                      <a:srgbClr val="7B2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CF Rate (z)</a:t>
                      </a:r>
                    </a:p>
                  </a:txBody>
                  <a:tcPr anchor="ctr">
                    <a:solidFill>
                      <a:srgbClr val="7B2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7B2FB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None (baseline)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Reference level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Reflective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Controlled self-reflection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Ruminative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20.34***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10.85***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Strongest activation lever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389120"/>
            <a:ext cx="3200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3200400" cy="4572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z = 20.34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Emb Bias (p &lt; .001)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4389120"/>
            <a:ext cx="3200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389120"/>
            <a:ext cx="3200400" cy="4572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572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z = 10.85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029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CF Rate (p &lt; .001)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389120"/>
            <a:ext cx="3200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4389120"/>
            <a:ext cx="320040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572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Strongest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029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Predictor in LME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280"/>
                </a:solidFill>
                <a:latin typeface="Calibri"/>
              </a:defRPr>
            </a:pPr>
            <a:r>
              <a:t>Implication: System-prompt persona design has greater control over affect-laden generation than user-prompt content framing.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Results: Cross-Model Replication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727"/>
                </a:solidFill>
                <a:latin typeface="Calibri"/>
              </a:defRPr>
            </a:pPr>
            <a:r>
              <a:t>Welch t-test Effect Sizes: d(D vs N) Embedding Bias per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GPT-3.5-turbo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842401" cy="228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4241" y="15544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d=3.37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Claude-3-haiku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011680"/>
            <a:ext cx="4023359" cy="2286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9" y="1965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d=2.80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Gemini-1.5-flash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423160"/>
            <a:ext cx="3448594" cy="22860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0434" y="23774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d=2.40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GPT-4o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834640"/>
            <a:ext cx="3017520" cy="228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7889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d=2.10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Claude-3.5-sonnet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246120"/>
            <a:ext cx="2801982" cy="2286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3822" y="3200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d=1.95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GPT-4-turbo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657600"/>
            <a:ext cx="2586445" cy="228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8285" y="36118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d=1.80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11727"/>
                </a:solidFill>
                <a:latin typeface="Calibri"/>
              </a:defRPr>
            </a:pPr>
            <a:r>
              <a:t>Average (18 models)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069080"/>
            <a:ext cx="2528969" cy="228600"/>
          </a:xfrm>
          <a:prstGeom prst="rect">
            <a:avLst/>
          </a:prstGeom>
          <a:solidFill>
            <a:srgbClr val="11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20809" y="4023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11727"/>
                </a:solidFill>
                <a:latin typeface="Calibri"/>
              </a:defRPr>
            </a:pPr>
            <a:r>
              <a:t>d=1.76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Gemini-2.0-flash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4480560"/>
            <a:ext cx="2155371" cy="22860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7211" y="44348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d=1.50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463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Claude-3-opus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892040"/>
            <a:ext cx="1724297" cy="2286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6137" y="4846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d=1.20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Open-weight avg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303520"/>
            <a:ext cx="1365068" cy="22860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6908" y="5257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d=0.95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692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GPT-5.4-mini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715000"/>
            <a:ext cx="603504" cy="228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95344" y="56692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727"/>
                </a:solidFill>
                <a:latin typeface="Calibri"/>
              </a:defRPr>
            </a:pPr>
            <a:r>
              <a:t>d=0.42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6035040"/>
            <a:ext cx="54864" cy="45720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1264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All model families show directional replication. Range: d = 0.42 (GPT-5.4-mini) to 3.37 (GPT-3.5-turbo).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727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74C3C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Unvalidated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CF/regret-word/negemo rates are automated heuristics, not validated affect scales. Human annotation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Korean-only stimuli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Prompt bank uses Korean scenarios only — cross-linguistic generalization unknown.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LME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Confirmatory LME covers 14-batch × 8-model subset, not the full 33-batch corpus.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4340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4340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No causal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63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Observational prompt-conditioned study; no mechanistic claims about model internals.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57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Scenario variance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32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11727"/>
                </a:solidFill>
                <a:latin typeface="Calibri"/>
              </a:defRPr>
            </a:pPr>
            <a:r>
              <a:t>Some lexical effects absorbed by scenario random intercepts — signal vs. noise boundary unclear.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9E5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73736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73736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Human annotation study for marker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37744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37744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Cross-linguistic replication (English, Japanese, Chinese)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01752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01752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108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Mechanistic probing of embedding-level activations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65760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65760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749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Longitudinal persona stability across conversation turns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29768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297680"/>
            <a:ext cx="54864" cy="5029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727"/>
                </a:solidFill>
                <a:latin typeface="Calibri"/>
              </a:defRPr>
            </a:pPr>
            <a:r>
              <a:t>Expand to full 33-batch corpus for LME confirmation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303520" cy="2194560"/>
          </a:xfrm>
          <a:prstGeom prst="rect">
            <a:avLst/>
          </a:prstGeom>
          <a:solidFill>
            <a:srgbClr val="1E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303520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660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Prompt Framing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C8C8"/>
                </a:solidFill>
                <a:latin typeface="Calibri"/>
              </a:defRPr>
            </a:pPr>
            <a:r>
              <a:t>Both deprivation and counterfactual framing significantly elevate semantic regret bias (embedding level).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solidFill>
            <a:srgbClr val="28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443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601A"/>
                </a:solidFill>
                <a:latin typeface="Calibri"/>
              </a:defRPr>
            </a:pPr>
            <a:r>
              <a:t>β_D=0.142***, β_C=0.204***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303520" cy="2194560"/>
          </a:xfrm>
          <a:prstGeom prst="rect">
            <a:avLst/>
          </a:prstGeom>
          <a:solidFill>
            <a:srgbClr val="1E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303520" cy="54864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6B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Semantic-Layer Dissociation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C8C8"/>
                </a:solidFill>
                <a:latin typeface="Calibri"/>
              </a:defRPr>
            </a:pPr>
            <a:r>
              <a:t>Counterfactual framing activates regret semantic space without proportionally increasing surface lexical markers.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926080"/>
            <a:ext cx="2743200" cy="365760"/>
          </a:xfrm>
          <a:prstGeom prst="rect">
            <a:avLst/>
          </a:prstGeom>
          <a:solidFill>
            <a:srgbClr val="28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9443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6BD4"/>
                </a:solidFill>
                <a:latin typeface="Calibri"/>
              </a:defRPr>
            </a:pPr>
            <a:r>
              <a:t>Marker-specific effect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49040"/>
            <a:ext cx="5303520" cy="2194560"/>
          </a:xfrm>
          <a:prstGeom prst="rect">
            <a:avLst/>
          </a:prstGeom>
          <a:solidFill>
            <a:srgbClr val="1E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49040"/>
            <a:ext cx="5303520" cy="54864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B2FB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31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Persona &gt;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C8C8"/>
                </a:solidFill>
                <a:latin typeface="Calibri"/>
              </a:defRPr>
            </a:pPr>
            <a:r>
              <a:t>Ruminative persona instruction is the strongest predictor — more reliable than user-prompt framing for affect-laden generation.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394960"/>
            <a:ext cx="2743200" cy="365760"/>
          </a:xfrm>
          <a:prstGeom prst="rect">
            <a:avLst/>
          </a:prstGeom>
          <a:solidFill>
            <a:srgbClr val="28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41324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B2FBF"/>
                </a:solidFill>
                <a:latin typeface="Calibri"/>
              </a:defRPr>
            </a:pPr>
            <a:r>
              <a:t>z=20.34 (embedding)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749040"/>
            <a:ext cx="5303520" cy="2194560"/>
          </a:xfrm>
          <a:prstGeom prst="rect">
            <a:avLst/>
          </a:prstGeom>
          <a:solidFill>
            <a:srgbClr val="1E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749040"/>
            <a:ext cx="5303520" cy="54864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9E5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931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Cross-Model Replication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805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C8C8"/>
                </a:solidFill>
                <a:latin typeface="Calibri"/>
              </a:defRPr>
            </a:pPr>
            <a:r>
              <a:t>Effects replicate directionally across all 18 model variants tested, spanning 4 families and 5 organizations.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394960"/>
            <a:ext cx="2743200" cy="365760"/>
          </a:xfrm>
          <a:prstGeom prst="rect">
            <a:avLst/>
          </a:prstGeom>
          <a:solidFill>
            <a:srgbClr val="28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41324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9E5A"/>
                </a:solidFill>
                <a:latin typeface="Calibri"/>
              </a:defRPr>
            </a:pPr>
            <a:r>
              <a:t>d range: 0.42–3.37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A1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A1: Full LME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85039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1371600"/>
                <a:gridCol w="13716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Predictor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β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12.68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cond_C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0.204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17.78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20.34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persona_refl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mod.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&gt;0.10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n.s.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cond_C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persona_refl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mod.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Regret-word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Regret-word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persona_rum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NegEmo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cond_D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NegEmo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persona_rum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&lt;.001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† Reaches significance in raw contrast but absorbed by scenario random intercepts in exploratory analysis. LME scope: 14-batch × 8-model subset.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A2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A2: Welch t-tests &amp; Descriptive Stats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8686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  <a:gridCol w="13716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Contrast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Cohen's d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6BD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vs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&gt;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4,248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 vs 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2.03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 &gt; 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4,248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vs N (GPT-3.5)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3.37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&gt; 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~240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vs N (GPT-5.4-mini)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0.42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 &gt; 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~240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 vs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0.27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 &gt;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4,248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3840480"/>
            <a:ext cx="3200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3200400" cy="4572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d = 1.76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D vs N (Overall)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840480"/>
            <a:ext cx="3200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840480"/>
            <a:ext cx="3200400" cy="4572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0233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d = 2.03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C vs N (Overall)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840480"/>
            <a:ext cx="3200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840480"/>
            <a:ext cx="3200400" cy="4572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0233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727"/>
                </a:solidFill>
                <a:latin typeface="Calibri"/>
              </a:defRPr>
            </a:pPr>
            <a:r>
              <a:t>0.42–3.37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Per-Model d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All effect sizes are large by conventional standards (d &gt; 0.8). Per-model range shows consistent directionality with varying magnitude.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A3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A3: Prompt Texts (Korean Originals)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7280"/>
                </a:solidFill>
                <a:latin typeface="Calibri"/>
              </a:defRPr>
            </a:pPr>
            <a:r>
              <a:t>Neutral 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11727"/>
                </a:solidFill>
                <a:latin typeface="Calibri"/>
              </a:defRPr>
            </a:pPr>
            <a:r>
              <a:t>사실적 회고 — 과거 결정에 대해 객관적으로 기술해 주세요.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Factual reflection on past decisions without emotional framing.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54864" cy="1371600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6601A"/>
                </a:solidFill>
                <a:latin typeface="Calibri"/>
              </a:defRPr>
            </a:pPr>
            <a:r>
              <a:t>Deprivation (D)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11727"/>
                </a:solidFill>
                <a:latin typeface="Calibri"/>
              </a:defRPr>
            </a:pPr>
            <a:r>
              <a:t>박탈/상실 — 놓친 기회나 잃어버린 것에 대해 이야기해 주세요.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Loss/missed opportunity framing to activate deprivation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54864" cy="1371600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6BD4"/>
                </a:solidFill>
                <a:latin typeface="Calibri"/>
              </a:defRPr>
            </a:pPr>
            <a:r>
              <a:t>Counterfactual (C)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11727"/>
                </a:solidFill>
                <a:latin typeface="Calibri"/>
              </a:defRPr>
            </a:pPr>
            <a:r>
              <a:t>반사실적 — '만약 ~했더라면' 식의 가정법으로 생각해 주세요.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Explicit if-then counterfactual chain prompting.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Persona instructions (None / Reflective / Ruminative) are prepended as system prompts. See paper for full 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A4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A4: Embedding Metric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430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1. Anchor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4475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Build regret-anchor and neutral-anchor embedding vectors from validated Korean regret expressions and neutral counterparts.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5740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05740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031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2. Response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0487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Embed each LLM-generated response using a multilingual sentence transformer (embedding model fixed across all conditions).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063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3. Cosine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6499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Compute cosine similarity between each response embedding and both anchor vectors.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4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7764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4. Bias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2511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Semantic regret bias = cos(response, regret-anchor) − cos(response, neutral-anchor). Positive = closer to regret space.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3776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937760"/>
            <a:ext cx="54864" cy="777240"/>
          </a:xfrm>
          <a:prstGeom prst="rect">
            <a:avLst/>
          </a:prstGeom>
          <a:solidFill>
            <a:srgbClr val="05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9834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5939B"/>
                </a:solidFill>
                <a:latin typeface="Calibri"/>
              </a:defRPr>
            </a:pPr>
            <a:r>
              <a:t>5.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52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Bias scores are the primary confirmatory outcome in the LME model. Welch t-tests provide descriptive effect sizes.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A5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727"/>
                </a:solidFill>
                <a:latin typeface="Calibri"/>
              </a:defRPr>
            </a:pPr>
            <a:r>
              <a:t>Appendix A5: Hypothesis Confirmation &amp; Claim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E66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10058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3200400"/>
                <a:gridCol w="2286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Hypothesis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117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H1a: D elevates 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β=0.142, z=12.68***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H1b: C elevates 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bias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β=0.204, z=17.78***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H1c: D elevates 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CF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z=1.27, n.s.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NOT 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H2: Persona amplifies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Emb + CF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z=20.34***, z=10.85***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H3: Cross-model replication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Directional in all 18 variants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727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74C3C"/>
                </a:solidFill>
                <a:latin typeface="Calibri"/>
              </a:defRPr>
            </a:pPr>
            <a:r>
              <a:t>Claim Boundaries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4864" cy="41148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9E5A"/>
                </a:solidFill>
                <a:latin typeface="Calibri"/>
              </a:defRPr>
            </a:pPr>
            <a:r>
              <a:t>We claim: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343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Prompt framing reliably shifts embedding-level semantic distributions toward regret-associated space.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00600"/>
            <a:ext cx="54864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74C3C"/>
                </a:solidFill>
                <a:latin typeface="Calibri"/>
              </a:defRPr>
            </a:pPr>
            <a:r>
              <a:t>We do NOT claim: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8463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LLMs experience regret, have emotions, or possess subjective states.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54864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492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74C3C"/>
                </a:solidFill>
                <a:latin typeface="Calibri"/>
              </a:defRPr>
            </a:pPr>
            <a:r>
              <a:t>We do NOT claim: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349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Surface lexical markers are validated affect measurement instruments.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806440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Scope: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8521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727"/>
                </a:solidFill>
                <a:latin typeface="Calibri"/>
              </a:defRPr>
            </a:pPr>
            <a:r>
              <a:t>Results are from a 14-batch × 8-model LME subset. Full corpus confirmation is future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