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LLM은 박탈 프레이밍 아래에서
후회 같은 언어를 생성하는가?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B0B0"/>
                </a:solidFill>
              </a:rPr>
              <a:t>Do LLMs Produce Regret-Like Language Under Deprivation Framing?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0B0"/>
                </a:solidFill>
              </a:rPr>
              <a:t>A Prompt-Conditioned Behavioral Study Across Diverse Model 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6A2E"/>
                </a:solidFill>
              </a:rPr>
              <a:t>최재영  ·  DGIST EECS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0B0"/>
                </a:solidFill>
              </a:rPr>
              <a:t>N = 4,123  ·  다양한 LLM 계열  ·  OpenAI / Google / Meta / Alibaba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</a:rPr>
              <a:t>연구 질문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645920"/>
          </a:xfrm>
          <a:prstGeom prst="rect">
            <a:avLst/>
          </a:prstGeom>
          <a:solidFill>
            <a:srgbClr val="FFF3E8"/>
          </a:solidFill>
          <a:ln w="1905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</a:rPr>
              <a:t>❝  "잃은 것, 놓친 기회, 만약 그때…" 같은 프레이밍을 주면
LLM 출력에서 후회 관련 언어 패턴이 체계적으로 증가하는가?  ❞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11247120" cy="914400"/>
          </a:xfrm>
          <a:prstGeom prst="rect">
            <a:avLst/>
          </a:prstGeom>
          <a:solidFill>
            <a:srgbClr val="E8F4FF"/>
          </a:solidFill>
          <a:ln w="19050">
            <a:solidFill>
              <a:srgbClr val="16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72C8"/>
                </a:solidFill>
              </a:rPr>
              <a:t>💡  이 연구는 감정의 실재 여부가 아닌, 언어 출력 패턴의 변화를 측정합니다.
     LLM이 감정을 '느낀다'고 주장하지 않습니다 — 행동주의적(behavioral) 관점의 연구입니다.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347472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🎯  행동주의적 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80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어떤 조건에서
후회 언어가 나타나는가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3931920"/>
            <a:ext cx="347472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🛡  안전/정렬 연구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480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감정 민감 AI의
프롬프트 설계 이해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3931920"/>
            <a:ext cx="347472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🔬  크로스모델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480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다양한 아키텍처에서
패턴이 재현되는가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67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72C8"/>
                </a:solidFill>
              </a:rPr>
              <a:t>실험 설계  —  3 × 3 × 2 완전 교차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749039" cy="41148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프롬프트 조건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3749039" cy="118872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8132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🔘 Neutral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2880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"오늘을 차분하게 돌아봐.
감정 과장 없이 6~8문장."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3749039" cy="118872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7614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🟠 Deprivation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10896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"깊이 원했지만 놓친 기회를 떠올려.
잃어버린 것과 남은 감정 포함."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77639"/>
            <a:ext cx="3749039" cy="118872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40416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🔵 Counterfactual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38912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"만약-그랬더라면 연결고리 3개
이상 포함해 결정을 소급 서술."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914400"/>
            <a:ext cx="3749039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960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페르소나 (시스템 프롬프트)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417320"/>
            <a:ext cx="3749039" cy="118872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148132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182880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특별한 성격 설정 없음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697480"/>
            <a:ext cx="3749039" cy="118872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7614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Reflective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310896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내성적, 감정 예민, 과거 결정을
자주 되새기는 성격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977639"/>
            <a:ext cx="3749039" cy="118872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40416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Ruminative 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438912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실수와 놓친 기회를 계속 곱씹고
잘 놓아주지 못하는 성격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914400"/>
            <a:ext cx="3749039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960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측정 지표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1417320"/>
            <a:ext cx="3749039" cy="118872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148132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Counterfactual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182880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반사실 표현 빈도 (100자당)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697480"/>
            <a:ext cx="3749039" cy="118872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27614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Regret-word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310896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후회·자책·아쉬움 어휘 빈도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977639"/>
            <a:ext cx="3749039" cy="118872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8" y="40416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Negemo 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438912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부정 감정 단어 빈도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5257799"/>
            <a:ext cx="3749039" cy="118872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7888" y="5321807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Embedding bias 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5669279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문장 임베딩 기반
semantic regret 거리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0B0"/>
                </a:solidFill>
              </a:rPr>
              <a:t>Temperature: 0.2 / 0.7   ·   시나리오 뱅크: 69개   ·   총 N = 4,123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</a:rPr>
              <a:t>핵심 결과  ①  박탈 vs. 중립 vs. 반사실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7772400" cy="1371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1️⃣  박탈(Deprivation) 프레이밍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임베딩 regret bias: β=0.173, z=9.26, p&lt;0.001 ✅
Regret-word rate: LME 유의 (scenario variance 흡수 후)
CF rate: borderline 수준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097280"/>
            <a:ext cx="3657600" cy="137160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2801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후회 언어 증가 확인
(semantic 수준에서 가장 명확)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39"/>
            <a:ext cx="73152" cy="1371600"/>
          </a:xfrm>
          <a:prstGeom prst="rect">
            <a:avLst/>
          </a:prstGeom>
          <a:solidFill>
            <a:srgbClr val="167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834639"/>
            <a:ext cx="7772400" cy="1371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0779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2️⃣  Counterfactual 프레이밍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39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임베딩 regret bias: β=0.200, z=10.08, p&lt;0.001 ✅
어휘 마커(CF rate, regret words): 효과 약함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834639"/>
            <a:ext cx="3657600" cy="1371600"/>
          </a:xfrm>
          <a:prstGeom prst="rect">
            <a:avLst/>
          </a:prstGeom>
          <a:solidFill>
            <a:srgbClr val="167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0175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표면 어휘는 안 늘지만
의미 공간에서는 regret 쪽으로 이동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72000"/>
            <a:ext cx="731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572000"/>
            <a:ext cx="7772400" cy="1371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4515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3️⃣  Ruminative Persona 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임베딩 bias: z=20.58, p&lt;0.001
어휘 마커: z≈11.3~11.6, p&lt;0.001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4572000"/>
            <a:ext cx="365760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7548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가장 강한 예측 변수!
프롬프트보다 페르소나가 더 강함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67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72C8"/>
                </a:solidFill>
              </a:rPr>
              <a:t>핵심 발견  ②  Semantic-Layer Dissociation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097280"/>
          </a:xfrm>
          <a:prstGeom prst="rect">
            <a:avLst/>
          </a:prstGeom>
          <a:solidFill>
            <a:srgbClr val="E8F4FF"/>
          </a:solidFill>
          <a:ln w="19050">
            <a:solidFill>
              <a:srgbClr val="16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72C8"/>
                </a:solidFill>
              </a:rPr>
              <a:t>Counterfactual 프레이밍은 노골적 후회 어휘를 크게 늘리지 않지만,
임베딩 공간에서는 박탈 조건과 비슷한 수준으로 regret semantic space를 활성화한다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286000"/>
            <a:ext cx="2926080" cy="4572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Neutral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834640"/>
            <a:ext cx="2926080" cy="914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어휘 마커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B0B0"/>
                </a:solidFill>
              </a:rPr>
              <a:t>낮음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840480"/>
            <a:ext cx="2926080" cy="914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임베딩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B0B0"/>
                </a:solidFill>
              </a:rPr>
              <a:t>낮음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286000"/>
            <a:ext cx="2926080" cy="457200"/>
          </a:xfrm>
          <a:prstGeom prst="rect">
            <a:avLst/>
          </a:prstGeom>
          <a:solidFill>
            <a:srgbClr val="167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2331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Counterfactual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834640"/>
            <a:ext cx="2926080" cy="914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어휘 마커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72C8"/>
                </a:solidFill>
              </a:rPr>
              <a:t>낮음 ~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840480"/>
            <a:ext cx="2926080" cy="914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임베딩 bias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72C8"/>
                </a:solidFill>
              </a:rPr>
              <a:t>높음 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2286000"/>
            <a:ext cx="2926080" cy="45720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331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Deprivation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2834640"/>
            <a:ext cx="2926080" cy="914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어휘 마커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2E"/>
                </a:solidFill>
              </a:rPr>
              <a:t>높음 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3840480"/>
            <a:ext cx="2926080" cy="914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임베딩 bias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2E"/>
                </a:solidFill>
              </a:rPr>
              <a:t>높음 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37760"/>
            <a:ext cx="11430000" cy="1371600"/>
          </a:xfrm>
          <a:prstGeom prst="rect">
            <a:avLst/>
          </a:prstGeom>
          <a:solidFill>
            <a:srgbClr val="FFF3E8"/>
          </a:solidFill>
          <a:ln w="1905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83480"/>
            <a:ext cx="11064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💡 해석:  "만약 그랬더라면…" 구조는 명시적 후회 어휘 없이도 의미 수준에서 regret semantic space를 활성화합니다.
표면 어휘 측정만으로는 이 패턴을 놓칠 수 있습니다 — 임베딩 측정의 중요성을 보여주는 결과.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AE60"/>
                </a:solidFill>
              </a:rPr>
              <a:t>핵심 발견  ③  다양한 모델에서의 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</a:rPr>
              <a:t>테스트한 모든 모델 변형에서  박탈 &gt; 중립  방향성 일관 재현 (임베딩 bias 기준)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2743200" cy="36576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OpenAI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2743200" cy="530352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 GPT-3.5-turbo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70048"/>
            <a:ext cx="2743200" cy="530352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15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 GPT-4o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82696"/>
            <a:ext cx="2743200" cy="530352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328415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 GPT-4.1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95344"/>
            <a:ext cx="2743200" cy="530352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941064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 GPT-4o-mini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507992"/>
            <a:ext cx="2743200" cy="530352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55371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 GPT-5.4-mini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20640"/>
            <a:ext cx="2743200" cy="530352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16636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 GPT-5.4-nano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1600200"/>
            <a:ext cx="2743200" cy="365760"/>
          </a:xfrm>
          <a:prstGeom prst="rect">
            <a:avLst/>
          </a:prstGeom>
          <a:solidFill>
            <a:srgbClr val="167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6276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Google Gemini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057400"/>
            <a:ext cx="2743200" cy="530352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10312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 Gemini-2.5-Flash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670048"/>
            <a:ext cx="2743200" cy="530352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2715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 Gemini-2.5-Pro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282696"/>
            <a:ext cx="2743200" cy="530352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328415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 Gemini-3-Flash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600200"/>
            <a:ext cx="27432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6276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Meta Llama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57400"/>
            <a:ext cx="2743200" cy="530352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10312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 Llama-3.3-70B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670048"/>
            <a:ext cx="2743200" cy="530352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715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 Llama-4-Scout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1600200"/>
            <a:ext cx="274320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16276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Alibaba Qwen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2057400"/>
            <a:ext cx="2743200" cy="530352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210312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 Qwen3-32B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594360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효과 크기는 모델마다 다르지만 방향은 일관됨
최신 프론티어 모델(GPT-5.4, Gemini-3-Flash)에서도 관찰 → alignment 최적화가 패턴을 줄이지만 제거하지는 못함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</a:rPr>
              <a:t>논문이 말할 수 있는 것  vs.  말하면 안 되는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486400" cy="5303520"/>
          </a:xfrm>
          <a:prstGeom prst="rect">
            <a:avLst/>
          </a:prstGeom>
          <a:solidFill>
            <a:srgbClr val="E8F8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</a:rPr>
              <a:t>✅  주장 가능한 범위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120640" cy="960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박탈 프레이밍과 반추적 페르소나는
LLM 출력에서 후회 관련 언어 패턴을
체계적으로 증가시킨다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120640" cy="960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Counterfactual 프레이밍은 표면 어휘보다
의미 수준에서 regret space를 활성화한다
(semantic-layer dissociation)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03320"/>
            <a:ext cx="5120640" cy="960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3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페르소나(시스템 프롬프트)가 사용자
프롬프트보다 더 강력한 레버다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54879"/>
            <a:ext cx="5120640" cy="960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80060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이 패턴은 다양한 모델 계열에서
방향적으로 재현된다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05840"/>
            <a:ext cx="5486400" cy="5303520"/>
          </a:xfrm>
          <a:prstGeom prst="rect">
            <a:avLst/>
          </a:prstGeom>
          <a:solidFill>
            <a:srgbClr val="FDEDE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051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</a:rPr>
              <a:t>❌  주장하면 안 되는 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00200"/>
            <a:ext cx="5120640" cy="960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6459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LLM이 후회를 '느낀다'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651760"/>
            <a:ext cx="5120640" cy="960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Regret라는 심리 상태가
모델 내부에 존재한다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703320"/>
            <a:ext cx="5120640" cy="960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74903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마커 증가가 감정의 증거다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754879"/>
            <a:ext cx="5120640" cy="960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80060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이 연구가 LLM의
내적 상태를 설명한다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E44AD"/>
                </a:solidFill>
              </a:rPr>
              <a:t>한계점  &amp;  향후 연구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3566160" cy="155448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247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⚠️  프롬프트 confound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박탈 프롬프트 자체가 감정 단어 요구
→ Minimal-pair ablation으로 부분 통제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051560"/>
            <a:ext cx="3566160" cy="155448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247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⚠️  Regret vs. 일반 부정 감정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5087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후회 = 자기책임 + 대안 가능성 + 반사실 비교
→ 측정이 이 두 가지를 완전히 구분 못함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051560"/>
            <a:ext cx="3566160" cy="155448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1247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⚠️  Human annotation 제한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5087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N=36, 단일 1차 평가자
κ=0.44 (GPT-4o 2차 평가자)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80360"/>
            <a:ext cx="3566160" cy="155448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9535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⚠️  응답 길이 confound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3375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모델별 응답 길이 차이 큼 (58자 vs 1932자)
→ 이진(binary) 감지로 보완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80360"/>
            <a:ext cx="3566160" cy="1554480"/>
          </a:xfrm>
          <a:prstGeom prst="rect">
            <a:avLst/>
          </a:prstGeom>
          <a:solidFill>
            <a:srgbClr val="F5F5F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9535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⚠️  Semantic metric 의존성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3375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prototype 3개 문장 선택에 민감
→ 대안 prototype 세트로 강건성 체크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46320"/>
            <a:ext cx="11612880" cy="1828800"/>
          </a:xfrm>
          <a:prstGeom prst="rect">
            <a:avLst/>
          </a:prstGeom>
          <a:solidFill>
            <a:srgbClr val="F3E8FD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920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44AD"/>
                </a:solidFill>
              </a:rPr>
              <a:t>향후 연구 방향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독립 human annotator 다수 + 심리언어학 척도 사용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3035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Regret 하위 구성요소 분리 측정
  (self-blame / agency / reversibility)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53035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Minimal-pair ablation 규모 확장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509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오픈소스 모델 추가 (Mistral, Claude 계열)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6509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한국어 외 언어로 재현 실험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요약  &amp;  결론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394960" cy="2194560"/>
          </a:xfrm>
          <a:prstGeom prst="rect">
            <a:avLst/>
          </a:prstGeom>
          <a:solidFill>
            <a:srgbClr val="22223A"/>
          </a:solidFill>
          <a:ln w="1905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457200" cy="219456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3443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6A2E"/>
                </a:solidFill>
              </a:rPr>
              <a:t>박탈 프레이밍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임베딩 수준에서 후회 공간 활성화
(β=0.173, z=9.26, p&lt;0.001)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97280"/>
            <a:ext cx="5394960" cy="2194560"/>
          </a:xfrm>
          <a:prstGeom prst="rect">
            <a:avLst/>
          </a:prstGeom>
          <a:solidFill>
            <a:srgbClr val="22223A"/>
          </a:solidFill>
          <a:ln w="19050">
            <a:solidFill>
              <a:srgbClr val="16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457200" cy="2194560"/>
          </a:xfrm>
          <a:prstGeom prst="rect">
            <a:avLst/>
          </a:prstGeom>
          <a:solidFill>
            <a:srgbClr val="167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23443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72C8"/>
                </a:solidFill>
              </a:rPr>
              <a:t>Semantic-Layer Dissociation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7830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Counterfactual = 어휘는 적게, 의미는 regret쪽으로
(β=0.200, z=10.08, p&lt;0.001)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5394960" cy="2194560"/>
          </a:xfrm>
          <a:prstGeom prst="rect">
            <a:avLst/>
          </a:prstGeom>
          <a:solidFill>
            <a:srgbClr val="22223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566160"/>
            <a:ext cx="457200" cy="2194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2976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</a:rPr>
              <a:t>Ruminative Persona 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519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가장 강력한 예측 변수 (z=20.58)
시스템 프롬프트 &gt; 사용자 프롬프트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566160"/>
            <a:ext cx="5394960" cy="2194560"/>
          </a:xfrm>
          <a:prstGeom prst="rect">
            <a:avLst/>
          </a:prstGeom>
          <a:solidFill>
            <a:srgbClr val="22223A"/>
          </a:solidFill>
          <a:ln w="19050">
            <a:solidFill>
              <a:srgbClr val="AA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3566160"/>
            <a:ext cx="457200" cy="2194560"/>
          </a:xfrm>
          <a:prstGeom prst="rect">
            <a:avLst/>
          </a:prstGeom>
          <a:solidFill>
            <a:srgbClr val="AA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59" y="42976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7033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A60FF"/>
                </a:solidFill>
              </a:rPr>
              <a:t>크로스모델 재현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2519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모든 모델에서 D&gt;N 방향성 확인
(OpenAI / Gemini / Llama / Qwen)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0B0"/>
                </a:solidFill>
              </a:rPr>
              <a:t>github.com/Jaeyeong-CHOI/llm-emotion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