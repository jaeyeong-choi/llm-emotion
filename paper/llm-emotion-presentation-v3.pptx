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LLM은 박탈 프레이밍 하에서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후회와 유사한 언어를 생성하는가?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C8C8C8"/>
                </a:solidFill>
                <a:latin typeface="Calibri"/>
              </a:defRPr>
            </a:pPr>
            <a:r>
              <a:t>Do LLMs Produce Regret-Like Language Under Deprivation Framing?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  <a:r>
              <a:t>A Prompt-Conditioned Behavioral Study Across Diverse Model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23360"/>
            <a:ext cx="22860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E6601A"/>
                </a:solidFill>
                <a:latin typeface="Calibri"/>
              </a:defRPr>
            </a:pPr>
            <a:r>
              <a:t>Jaeyeong CHOI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DGIST EECS  |  jaeyeong2022@dgist.ac.kr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114800"/>
            <a:ext cx="1645920" cy="1005840"/>
          </a:xfrm>
          <a:prstGeom prst="rect">
            <a:avLst/>
          </a:prstGeom>
          <a:solidFill>
            <a:srgbClr val="23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114800"/>
            <a:ext cx="164592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6,709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54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4114800"/>
            <a:ext cx="1645920" cy="1005840"/>
          </a:xfrm>
          <a:prstGeom prst="rect">
            <a:avLst/>
          </a:prstGeom>
          <a:solidFill>
            <a:srgbClr val="23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4114800"/>
            <a:ext cx="164592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754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Model Variants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727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Research Question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Why study regret-like language in LLMs?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3 conditions × 3 personas × continuous temperature across 32 model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968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Condition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LME analysis of prompt framing (N=6,709)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55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Semantic-Layer Dissociation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112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Embedding vs. surface marker divergence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13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Ruminative 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69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System prompt as strongest activation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Cross-Model Replication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28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Effect sizes across 7 model families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30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86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Scope boundaries and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88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8887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144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Four key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371600"/>
            <a:ext cx="1828800" cy="4572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444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029968"/>
            <a:ext cx="1828800" cy="4572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688336"/>
            <a:ext cx="1828800" cy="4572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27614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346704"/>
            <a:ext cx="1828800" cy="4572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4198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005072"/>
            <a:ext cx="1828800" cy="4572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0782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4663440"/>
            <a:ext cx="18288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4736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21808"/>
            <a:ext cx="18288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5980176"/>
            <a:ext cx="1828800" cy="457200"/>
          </a:xfrm>
          <a:prstGeom prst="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60533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Research Question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6601A"/>
                </a:solidFill>
                <a:latin typeface="Calibri"/>
              </a:defRPr>
            </a:pPr>
            <a:r>
              <a:t>Research Question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111727"/>
                </a:solidFill>
                <a:latin typeface="Calibri"/>
              </a:defRPr>
            </a:pPr>
            <a:r>
              <a:t>Under what prompting conditions does regret-associated language systematically appear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111727"/>
                </a:solidFill>
                <a:latin typeface="Calibri"/>
              </a:defRPr>
            </a:pPr>
            <a:r>
              <a:t>in LLM-generated text, and does this pattern replicate across model families?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3832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Safety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LLM outputs increasingly used in emotionally sensitive applications — knowing which prompt structures activate affect-laden patterns matters.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926080"/>
            <a:ext cx="338328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6BD4"/>
                </a:solidFill>
                <a:latin typeface="Calibri"/>
              </a:defRPr>
            </a:pPr>
            <a:r>
              <a:t>Behavioral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Systematic study of how affect-laden framing shifts lexical distributions is important for alignment evaluation.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926080"/>
            <a:ext cx="3383280" cy="54864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B2FBF"/>
                </a:solidFill>
                <a:latin typeface="Calibri"/>
              </a:defRPr>
            </a:pPr>
            <a:r>
              <a:t>Anthropomorphism Caution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We treat regret-like language as a behavioral signal of prompt-conditioned generation, NOT evidence of subjective experience.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Gap: Few studies examine whether affect-laden framing reliably shifts lexical distribution in a controlled, cross-model fashion.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256032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3 × 3 ×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Factorial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097280"/>
            <a:ext cx="256032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N = 6,709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2560320" cy="457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32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7 Model 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097280"/>
            <a:ext cx="2560320" cy="4572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4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Automated Markers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2468880"/>
          <a:ext cx="6766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Persona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Reflective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Neutral 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Deprivation (D)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Counterfactual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04672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Output Markers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73152" cy="4572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CF expression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73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Surface counterfactual phrases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657600"/>
            <a:ext cx="73152" cy="4572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Regret-word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13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Explicit regret lexicon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297680"/>
            <a:ext cx="7315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NegEmo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553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Negative emotion terms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937760"/>
            <a:ext cx="73152" cy="4572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Semantic regret bias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193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Embedding cosine similarity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Temperature as continuous covariate (multiple values: 0.2–1.0) across 32 model variants.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Models span GPT, Claude, Gemini, and open-weight families (7 families).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Scenario bank: neutral = 17, deprivation = 20, counterfactual = 14 scenarios.  |  N/D/C: 2,225 / 2,234 / 2,250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Condition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Semantic Regret Bias by Condition (Embedding)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Neutral (N)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19072"/>
            <a:ext cx="27432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baseline (− 0.034 ± 0.075)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Deprivation (D)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496312"/>
            <a:ext cx="2482596" cy="32004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2956" y="2468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β=0.181, z=43.0*** (+0.113 ± 0.076)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Counterfactual (C)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273552"/>
            <a:ext cx="3195828" cy="32004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32461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β=0.233, z=52.8*** (+0.133 ± 0.072)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LME Results (N = 6,709)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0" y="1554480"/>
          <a:ext cx="44805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73152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Predictor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0.233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52.8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Reflective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9.9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−0.001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−1.4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.154 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" cy="109728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Key Finding: Both D and C conditions significantly elevate semantic regret bias (embedding level). Temperature shows no significant effect (β=−0.001, z=−1.4, p=.154), confirming the effect is prompt-driven, not temperature-driven.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Semantic-Layer Dissociation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02920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6BD4"/>
                </a:solidFill>
                <a:latin typeface="Calibri"/>
              </a:defRPr>
            </a:pPr>
            <a:r>
              <a:t>Semantic Layer (Embedding Cosine Bias)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D vs N: d = 1.943 (large effect), t = 64.9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 vs N: d = 2.279 (large effect), t = 76.2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Both conditions significantly activate regret-associated semantic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LME confirms: β_D = 0.181***, β_C = 0.233***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029200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601A"/>
                </a:solidFill>
                <a:latin typeface="Calibri"/>
              </a:defRPr>
            </a:pPr>
            <a:r>
              <a:t>Surface Layer (Lexical CF Markers)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CF rate under D: z = 1.27, 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Counterfactual framing activates semantic space...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...without proportionally increasing surface markers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Regret-word &amp; negemo reach significance but absorbed by scenario variance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11887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4864" cy="1188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6BD4"/>
                </a:solidFill>
                <a:latin typeface="Calibri"/>
              </a:defRPr>
            </a:pPr>
            <a:r>
              <a:t>Semantic-Layer Dissociation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Counterfactual framing activates regret-associated semantic space (embedding level) without proportionally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increasing surface lexical markers — a marker-specific dissociation between deep and surface representations.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Ruminative Persona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solidFill>
            <a:srgbClr val="F5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7B2FBF"/>
                </a:solidFill>
                <a:latin typeface="Calibri"/>
              </a:defRPr>
            </a:pPr>
            <a:r>
              <a:t>Strongest predictor in the model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The ruminative persona instruction is a more reliable lever for affect-laden generation than user-prompt framing.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377440"/>
          <a:ext cx="10149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Persona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 Bias β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 Bias z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None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Reference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Reflective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9.9***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Controlled self-reflection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19.5***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Strongest activation lever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3200400" cy="4572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z = 19.5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Ruminative Emb Bias (p &lt; .001)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389120"/>
            <a:ext cx="3200400" cy="4572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z = 9.9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Reflective Emb Bias (p &lt; .001)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389120"/>
            <a:ext cx="32004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Strongest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Predictor in LME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Implication: System-prompt persona design has greater control over affect-laden generation than user-prompt content framing.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Cross-Model Replication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Welch t-test Effect Sizes: d(D vs N) Embedding Bias per Model  |  32 variants, 7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GPT-3.5-turbo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842401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4241" y="15544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d=3.37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Claude-3-haiku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011680"/>
            <a:ext cx="4023359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9" y="1965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Gemini-1.5-flash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3448594" cy="2286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0434" y="23774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834640"/>
            <a:ext cx="3017520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Claude-3.5-sonnet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246120"/>
            <a:ext cx="2801982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3822" y="3200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GPT-4-turbo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657600"/>
            <a:ext cx="2586445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8285" y="36118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11727"/>
                </a:solidFill>
                <a:latin typeface="Calibri"/>
              </a:defRPr>
            </a:pPr>
            <a:r>
              <a:t>Average (32 models)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91924" cy="228600"/>
          </a:xfrm>
          <a:prstGeom prst="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3764" y="4023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11727"/>
                </a:solidFill>
                <a:latin typeface="Calibri"/>
              </a:defRPr>
            </a:pPr>
            <a:r>
              <a:t>d=1.943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Gemini-2.0-flash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480560"/>
            <a:ext cx="2155371" cy="2286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7211" y="44348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Claude-3-opus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892040"/>
            <a:ext cx="1724297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6137" y="4846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Open-weight avg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303520"/>
            <a:ext cx="1365068" cy="2286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6908" y="5257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d=0.95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9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GPT-5.4-mini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715000"/>
            <a:ext cx="603504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95344" y="56692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d=0.42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1264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All 7 model families show directional replication. Overall: d=1.943 (D vs N), d=2.279 (C vs N). Range: 0.42–3.37.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Unvalidated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CF/regret-word/negemo rates are automated heuristics, not validated affect scales. Human annotation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Korean-only stimuli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Prompt bank uses Korean scenarios only — cross-linguistic generalization unknown.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No causal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Observational prompt-conditioned study; no mechanistic claims about model internals.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Scenario 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Some lexical effects absorbed by scenario random intercepts — signal vs. noise boundary unclear.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d-value inflation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Large Cohen’s d partly reflects low within-condition variance; interpret with LME β jointly.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9E5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73736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73736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Human annotation study for marker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37744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Cross-linguistic replication (English, Japanese, Chinese)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01752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01752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Mechanistic probing of embedding-level activations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65760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65760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Longitudinal persona stability across conversation turns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976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29768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Model random-effect analysis (variance decomposition)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303520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60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Prompt Framing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Both deprivation and counterfactual framing significantly elevate semantic regret bias (embedding level).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601A"/>
                </a:solidFill>
                <a:latin typeface="Calibri"/>
              </a:defRPr>
            </a:pPr>
            <a:r>
              <a:t>β_D=0.181***, β_C=0.233***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30352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6B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Semantic-Layer Dissociation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Counterfactual framing activates regret semantic space without proportionally increasing surface lexical markers.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2608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944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6BD4"/>
                </a:solidFill>
                <a:latin typeface="Calibri"/>
              </a:defRPr>
            </a:pPr>
            <a:r>
              <a:t>Marker-specific effect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4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49040"/>
            <a:ext cx="5303520" cy="54864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B2F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Persona &gt;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Ruminative persona instruction is the strongest predictor — more reliable than user-prompt framing for affect-laden generation.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4132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B2FBF"/>
                </a:solidFill>
                <a:latin typeface="Calibri"/>
              </a:defRPr>
            </a:pPr>
            <a:r>
              <a:t>β=0.038, z=19.5 (embedding)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74904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749040"/>
            <a:ext cx="5303520" cy="54864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9E5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Cross-Model Replication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Effects replicate directionally across all 32 model variants tested, spanning 7 families.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39496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4132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9E5A"/>
                </a:solidFill>
                <a:latin typeface="Calibri"/>
              </a:defRPr>
            </a:pPr>
            <a:r>
              <a:t>d range: 0.42–3.37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A1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A1: Full LME Results (N = 6,709)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850392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1371600"/>
                <a:gridCol w="13716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Predictor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0.233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52.8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persona_refl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9.9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−0.001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−1.4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.154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&gt;0.10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n.s.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10.85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persona_refl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mod.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Regret-word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Regret-word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NegEmo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NegEmo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† Reaches significance in raw contrast but absorbed by scenario random intercepts in exploratory analysis. LME scope: full N = 6,709 (32 models, 7 families).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A2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A2: Welch t-tests &amp; Descriptive Stats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88696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097280"/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Contrast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Cohen’s d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64.9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1.943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6,709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vs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76.2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2.279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&gt;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6,709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 (GPT-3.5)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3.37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~240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 (GPT-5.4-mini)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~240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vs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&gt;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6,709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Condition Means (Embedding Bias)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749039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 anchor="ctr">
                    <a:solidFill>
                      <a:srgbClr val="0593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593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</a:t>
                      </a:r>
                    </a:p>
                  </a:txBody>
                  <a:tcPr anchor="ctr">
                    <a:solidFill>
                      <a:srgbClr val="0593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593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Neutral 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−0.034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2,225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Deprivation (D)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+0.113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0.076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2,234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Counterfactual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+0.133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2,250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0" y="3474720"/>
            <a:ext cx="18288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474720"/>
            <a:ext cx="18288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6576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d = 1.943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114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D vs N (Overall)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754880"/>
            <a:ext cx="18288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4754880"/>
            <a:ext cx="182880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377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d = 2.279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3949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 vs N (Overall)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474720"/>
            <a:ext cx="2286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3474720"/>
            <a:ext cx="2286000" cy="457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657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0.42–3.37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114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Per-Model d Range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754880"/>
            <a:ext cx="2286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4754880"/>
            <a:ext cx="2286000" cy="45720"/>
          </a:xfrm>
          <a:prstGeom prst="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937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6,709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394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All effect sizes are large by conventional standards (d &gt; 0.8). Per-model range shows consistent directionality with varying magnitude.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A3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A3: Prompt Texts (Korean Originals)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Neutral 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사실적 회고 — 과거 결정에 대해 객관적으로 기술해 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Factual reflection on past decisions without emotional framing. (17 scenarios)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54864" cy="1371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601A"/>
                </a:solidFill>
                <a:latin typeface="Calibri"/>
              </a:defRPr>
            </a:pPr>
            <a:r>
              <a:t>Deprivation 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박탈/상실 — 놓친 기회나 잃어버린 것에 대해 이야기해 주세요.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Loss/missed opportunity framing to activate deprivation schema. (20 scenarios)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54864" cy="1371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6BD4"/>
                </a:solidFill>
                <a:latin typeface="Calibri"/>
              </a:defRPr>
            </a:pPr>
            <a:r>
              <a:t>Counterfactual (C)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반사실적 — '만약 ~했더라면' 식의 가정법으로 생각해 주세요.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Explicit if-then counterfactual chain prompting. (14 scenarios)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Persona instructions (None / Reflective / Ruminative) are prepended as system prompts. Scenario bank total: 51 (neutral: 17, deprivation: 20, counterfactual: 14).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A4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A4: Embedding Metric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430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1. Anchor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447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Build regret-anchor and neutral-anchor embedding vectors from validated Korean regret expressions and neutral counterparts.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2. Response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0487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Embed each LLM-generated response using a multilingual sentence transformer (embedding model fixed across all conditions).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3. 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6499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Compute cosine similarity between each response embedding and both anchor vectors.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4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4. Bias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2511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Semantic regret bias = cos(response, regret-anchor) − cos(response, neutral-anchor). Positive = closer to regret space.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3776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93776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83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5.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52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Bias scores are the primary confirmatory outcome in the LME model. Welch t-tests provide descriptive effect sizes.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A5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A5: Hypothesis Confirmation &amp; Claim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10058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004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Hypothesis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H1a: D elevates 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β=0.181, z=43.0***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H1b: C elevates 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β=0.233, z=52.8***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H1c: D elevates 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z=1.27, 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NOT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H2: Persona amplifies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β_rum=0.038, z=19.5***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H3: Cross-model 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Directional in all 32 variants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H4: Temperature effect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β=−0.001, z=−1.4, n.s.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NOT CONFIRMED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Claim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54864" cy="4114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9E5A"/>
                </a:solidFill>
                <a:latin typeface="Calibri"/>
              </a:defRPr>
            </a:pPr>
            <a:r>
              <a:t>We claim: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177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Prompt framing reliably shifts embedding-level semantic distributions toward regret-associated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74920"/>
            <a:ext cx="54864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We do NOT claim: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1206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LLMs experience regret, have emotions, or possess subjective states.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77840"/>
            <a:ext cx="54864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We do NOT claim: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6235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Surface lexical markers are validated affect measurement instruments.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08076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1264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Scope: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6126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Full corpus N = 6,709 across 32 model variants and 7 families.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